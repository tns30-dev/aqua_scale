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75" r:id="rId6"/>
    <p:sldId id="260" r:id="rId7"/>
    <p:sldId id="273" r:id="rId8"/>
    <p:sldId id="274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61" r:id="rId19"/>
    <p:sldId id="262" r:id="rId20"/>
    <p:sldId id="285" r:id="rId21"/>
    <p:sldId id="286" r:id="rId22"/>
    <p:sldId id="264" r:id="rId23"/>
    <p:sldId id="265" r:id="rId24"/>
    <p:sldId id="266" r:id="rId25"/>
    <p:sldId id="267" r:id="rId26"/>
    <p:sldId id="287" r:id="rId27"/>
    <p:sldId id="268" r:id="rId28"/>
    <p:sldId id="288" r:id="rId29"/>
    <p:sldId id="269" r:id="rId30"/>
    <p:sldId id="289" r:id="rId31"/>
    <p:sldId id="290" r:id="rId32"/>
    <p:sldId id="270" r:id="rId33"/>
    <p:sldId id="291" r:id="rId34"/>
    <p:sldId id="271" r:id="rId35"/>
    <p:sldId id="272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1364"/>
  </p:normalViewPr>
  <p:slideViewPr>
    <p:cSldViewPr snapToGrid="0" snapToObjects="1">
      <p:cViewPr>
        <p:scale>
          <a:sx n="113" d="100"/>
          <a:sy n="113" d="100"/>
        </p:scale>
        <p:origin x="1576" y="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3A42F-3BAE-924C-8FC1-161C29F94FFF}" type="datetimeFigureOut">
              <a:rPr lang="en-MM" smtClean="0"/>
              <a:t>20/05/2026</a:t>
            </a:fld>
            <a:endParaRPr lang="en-M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C09AD-5570-734E-B416-D1A38F9AEAAB}" type="slidenum">
              <a:rPr lang="en-MM" smtClean="0"/>
              <a:t>‹#›</a:t>
            </a:fld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357073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"Here's the project roadmap — ten milestones across the lifecycle. Five are shipped, three are in progress and demoable today, and two are planned for the next delivery cycle.</a:t>
            </a:r>
          </a:p>
          <a:p>
            <a:endParaRPr/>
          </a:p>
          <a:p>
            <a:r>
              <a:t>The first three — stabilise legacy, design kick-off, and design refinement — covered the early sprints. The next two — User Management with Project and Profile, then Digital Twin and Visualisation — closed the core platform.</a:t>
            </a:r>
          </a:p>
          <a:p>
            <a:endParaRPr/>
          </a:p>
          <a:p>
            <a:r>
              <a:t>Where we are right now is the *in-progress band*: Pond Comparison, the CI/CD pipeline with security hardening, and the MQTT IoT pipeline. I'll show all three of these in the live demo at the end.</a:t>
            </a:r>
          </a:p>
          <a:p>
            <a:endParaRPr/>
          </a:p>
          <a:p>
            <a:r>
              <a:t>The last two — Notification Service for multi-channel alerts, and Model Integration for predictive analytics — are scoped but not yet started. They represent the next delivery cycle.</a:t>
            </a:r>
          </a:p>
          <a:p>
            <a:endParaRPr/>
          </a:p>
          <a:p>
            <a:r>
              <a:t>The slides that follow walk through each of the in-progress and shipped milestones in more detail."</a:t>
            </a:r>
          </a:p>
          <a:p>
            <a:endParaRPr/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"Quick tour of the stack, grouped by what it does.</a:t>
            </a:r>
          </a:p>
          <a:p>
            <a:endParaRPr/>
          </a:p>
          <a:p>
            <a:r>
              <a:t>**At the edge**, sensors talk to a Raspberry Pi over GPIO/serial; the Pi publishes to **Mosquitto MQTT**. We chose MQTT because it's built for unreliable networks — the Pi buffers and retries when the broker is unreachable.</a:t>
            </a:r>
          </a:p>
          <a:p>
            <a:endParaRPr/>
          </a:p>
          <a:p>
            <a:r>
              <a:t>**The real-time pipeline** is **Django Channels** on **Daphne** with **Redis** as the channel layer. That means HTTP and WebSocket run on the same Django process, and Redis lets us scale to multiple workers later without a rewrite.</a:t>
            </a:r>
          </a:p>
          <a:p>
            <a:endParaRPr/>
          </a:p>
          <a:p>
            <a:r>
              <a:t>**The backend** is **Django 5.2** with **DRF** for the JSON API, **simplejwt** for auth issued as **HttpOnly cookies**, and **drf-spectacular** auto-generating the OpenAPI schema the SPA consumes. Schema-first via **`managed=False`** — the consultant reviews SQL files, not migrations.</a:t>
            </a:r>
          </a:p>
          <a:p>
            <a:endParaRPr/>
          </a:p>
          <a:p>
            <a:r>
              <a:t>**The frontend** is **React 19 with TypeScript** on **Vite**, **shadcn/ui** for design-system components, **Zustand** for state, **react-hook-form + Zod** for forms, and **Recharts** for the historical trends and comparison views.</a:t>
            </a:r>
          </a:p>
          <a:p>
            <a:endParaRPr/>
          </a:p>
          <a:p>
            <a:r>
              <a:t>**Database** is **Postgres 15** — JSONB for the feature-access permissions blob, composite primary keys for user-project links, partitioning for high-volume sensor readings.</a:t>
            </a:r>
          </a:p>
          <a:p>
            <a:endParaRPr/>
          </a:p>
          <a:p>
            <a:r>
              <a:t>**Security** is a layered set: HttpOnly cookies plus CSRF for the runtime model, **Bandit** and **Semgrep** for static scanning, **pip-audit** and **npm audit** for dependency CVEs, **OWASP ZAP** for dynamic scanning in CI.</a:t>
            </a:r>
          </a:p>
          <a:p>
            <a:endParaRPr/>
          </a:p>
          <a:p>
            <a:r>
              <a:t>**CI/CD** runs in **GitHub Actions** — pytest, Vitest, Playwright, k6 load and stress, all on every PR.</a:t>
            </a:r>
          </a:p>
          <a:p>
            <a:endParaRPr/>
          </a:p>
          <a:p>
            <a:r>
              <a:t>**Hosting** for the demo is **GCP Cloud Run + Artifact Registry + Cloud SQL**, provisioned via **Terraform**. Cloud Run scales to zero between rehearsals so the demo environment costs almost nothing when idle."</a:t>
            </a:r>
          </a:p>
          <a:p>
            <a:endParaRPr/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"Here's how a `git push` becomes a live Cloud Run revision. There are **three flows** on this diagram.</a:t>
            </a:r>
          </a:p>
          <a:p>
            <a:endParaRPr/>
          </a:p>
          <a:p>
            <a:r>
              <a:t>**The first runs once** — Terraform bootstrap from a developer machine. It provisions the entire platform: Artifact Registry, Cloud SQL, Memorystore Redis, Secret Manager, the deploy service account with scoped IAM bindings, and the VPC firewall rules. Terraform's state lives in a GCS bucket so the same apply works from any machine with credentials.</a:t>
            </a:r>
          </a:p>
          <a:p>
            <a:endParaRPr/>
          </a:p>
          <a:p>
            <a:r>
              <a:t>**The other two flows run on every push to `dev`**, but they're independent of each other.</a:t>
            </a:r>
          </a:p>
          <a:p>
            <a:endParaRPr/>
          </a:p>
          <a:p>
            <a:r>
              <a:t>The **frontend lane** fires when a commit touches `frontend/**`. The `ci-frontend.yml` workflow runs typecheck, ESLint, Vitest, Semgrep SAST, npm audit SCA, Playwright E2E, ZAP DAST, and k6 load and stress. On green, `deploy-gcp-frontend.yml` builds the frontend Docker image, pushes it to the `aqua-images/frontend` repository in Artifact Registry tagged with the commit SHA, then calls `gcloud run deploy` to roll out a new `frontend-svc` revision in **Tier 1**.</a:t>
            </a:r>
          </a:p>
          <a:p>
            <a:endParaRPr/>
          </a:p>
          <a:p>
            <a:r>
              <a:t>The **backend lane** fires when a commit touches `backend/**`. `ci-backend.yml` runs Ruff, pytest, Bandit SAST, pip-audit SCA, ZAP DAST, k6 load and stress. On green, `deploy-gcp-backend.yml` builds the backend image, pushes it to `aqua-images/backend`, then deploys to `backend-svc` in **Tier 2**, attaching the Cloud SQL connection and the runtime secrets at deploy time.</a:t>
            </a:r>
          </a:p>
          <a:p>
            <a:endParaRPr/>
          </a:p>
          <a:p>
            <a:r>
              <a:t>The two lanes never overlap. A frontend-only change never triggers a backend deploy, and vice versa. The tier boundary that appears in the physical diagram — Cloud Run IAM plus CORS plus CSRF — is preserved here: the two services run separately, they get their own image, they're rolled forward and rolled back independently."</a:t>
            </a:r>
          </a:p>
          <a:p>
            <a:endParaRPr/>
          </a:p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194560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dirty="0" err="1">
                <a:solidFill>
                  <a:srgbClr val="FFFFFF"/>
                </a:solidFill>
              </a:rPr>
              <a:t>AquaShield</a:t>
            </a:r>
            <a:r>
              <a:rPr sz="6000" b="1" dirty="0">
                <a:solidFill>
                  <a:srgbClr val="FFFFFF"/>
                </a:solidFill>
              </a:rPr>
              <a:t> Monitoring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>
                <a:solidFill>
                  <a:srgbClr val="F5F1E8"/>
                </a:solidFill>
              </a:rPr>
              <a:t>Helping aquaculture farms catch water-quality problems before they cost a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9771" y="6035040"/>
            <a:ext cx="381341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>
                <a:solidFill>
                  <a:srgbClr val="F5F1E8"/>
                </a:solidFill>
              </a:rPr>
              <a:t>MTech in Software Engineering · </a:t>
            </a:r>
            <a:r>
              <a:rPr sz="1400" dirty="0" err="1">
                <a:solidFill>
                  <a:srgbClr val="F5F1E8"/>
                </a:solidFill>
              </a:rPr>
              <a:t>Thet</a:t>
            </a:r>
            <a:r>
              <a:rPr sz="1400" dirty="0">
                <a:solidFill>
                  <a:srgbClr val="F5F1E8"/>
                </a:solidFill>
              </a:rPr>
              <a:t> </a:t>
            </a:r>
            <a:r>
              <a:rPr sz="1400" dirty="0" err="1">
                <a:solidFill>
                  <a:srgbClr val="F5F1E8"/>
                </a:solidFill>
              </a:rPr>
              <a:t>Naung</a:t>
            </a:r>
            <a:r>
              <a:rPr sz="1400" dirty="0">
                <a:solidFill>
                  <a:srgbClr val="F5F1E8"/>
                </a:solidFill>
              </a:rPr>
              <a:t> </a:t>
            </a:r>
            <a:r>
              <a:rPr sz="1400" dirty="0" err="1">
                <a:solidFill>
                  <a:srgbClr val="F5F1E8"/>
                </a:solidFill>
              </a:rPr>
              <a:t>Soe</a:t>
            </a:r>
            <a:endParaRPr sz="1400" dirty="0">
              <a:solidFill>
                <a:srgbClr val="F5F1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85240" y="1050595"/>
            <a:ext cx="8074815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Overview &amp; Introduction</a:t>
            </a:r>
          </a:p>
        </p:txBody>
      </p:sp>
      <p:sp>
        <p:nvSpPr>
          <p:cNvPr id="20" name="TextBox 3"/>
          <p:cNvSpPr txBox="1"/>
          <p:nvPr/>
        </p:nvSpPr>
        <p:spPr>
          <a:xfrm>
            <a:off x="1285240" y="2969469"/>
            <a:ext cx="8074815" cy="2800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714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</a:rPr>
              <a:t>Helping aquaculture farms catch water-quality problems before they cost a harvest.</a:t>
            </a:r>
          </a:p>
          <a:p>
            <a:pPr marL="1714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</a:rPr>
              <a:t> Fish, shrimp, and crab farmers monitor pond water by hand a few times a day — missed pH crashes, oxygen drops, or temperature spikes can wipe out an entire pond overnight.</a:t>
            </a:r>
          </a:p>
          <a:p>
            <a:pPr marL="1714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</a:rPr>
              <a:t>A single bad pond costs thousands of dollars in lost stock, plus the operational time spent trying to recover it.</a:t>
            </a:r>
          </a:p>
          <a:p>
            <a:pPr marL="1714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</a:rPr>
              <a:t>Our platform watches every pond continuously, raises alerts the moment readings drift out of safe range, and lets operators compare ponds side by side.</a:t>
            </a:r>
          </a:p>
          <a:p>
            <a:pPr marL="1714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</a:rPr>
              <a:t>Built for aquaculture operators running multiple ponds across shrimp, fish, and crab hatchery profiles.</a:t>
            </a:r>
          </a:p>
          <a:p>
            <a:pPr marL="1714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</a:rPr>
              <a:t>Delivers earlier detection, fewer stock losses, less manual labour, and data-backed farm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03D4C"/>
                </a:solidFill>
              </a:rPr>
              <a:t>Overall Scope (Use Case Diagram)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767B"/>
                </a:solidFill>
              </a:rPr>
              <a:t>AquaShield v2 · Slide 2 / 16</a:t>
            </a:r>
          </a:p>
        </p:txBody>
      </p:sp>
      <p:pic>
        <p:nvPicPr>
          <p:cNvPr id="8" name="Picture 7" descr="A diagram of a person&#10;&#10;Description automatically generated">
            <a:extLst>
              <a:ext uri="{FF2B5EF4-FFF2-40B4-BE49-F238E27FC236}">
                <a16:creationId xmlns:a16="http://schemas.microsoft.com/office/drawing/2014/main" id="{BEA47969-BC8B-6295-28CB-9BB8F75F6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415" y="815975"/>
            <a:ext cx="17056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03D4C"/>
                </a:solidFill>
              </a:rPr>
              <a:t>Project Roadmap &amp; Key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767B"/>
                </a:solidFill>
              </a:rPr>
              <a:t>AquaShield v2 · Slide 3 / 16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A7E0FE-7CD0-3E2A-AD1E-6DC1C264C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981785"/>
              </p:ext>
            </p:extLst>
          </p:nvPr>
        </p:nvGraphicFramePr>
        <p:xfrm>
          <a:off x="1004712" y="880533"/>
          <a:ext cx="9663288" cy="5202403"/>
        </p:xfrm>
        <a:graphic>
          <a:graphicData uri="http://schemas.openxmlformats.org/drawingml/2006/table">
            <a:tbl>
              <a:tblPr/>
              <a:tblGrid>
                <a:gridCol w="654755">
                  <a:extLst>
                    <a:ext uri="{9D8B030D-6E8A-4147-A177-3AD203B41FA5}">
                      <a16:colId xmlns:a16="http://schemas.microsoft.com/office/drawing/2014/main" val="1468327169"/>
                    </a:ext>
                  </a:extLst>
                </a:gridCol>
                <a:gridCol w="5787437">
                  <a:extLst>
                    <a:ext uri="{9D8B030D-6E8A-4147-A177-3AD203B41FA5}">
                      <a16:colId xmlns:a16="http://schemas.microsoft.com/office/drawing/2014/main" val="3342025437"/>
                    </a:ext>
                  </a:extLst>
                </a:gridCol>
                <a:gridCol w="3221096">
                  <a:extLst>
                    <a:ext uri="{9D8B030D-6E8A-4147-A177-3AD203B41FA5}">
                      <a16:colId xmlns:a16="http://schemas.microsoft.com/office/drawing/2014/main" val="262631985"/>
                    </a:ext>
                  </a:extLst>
                </a:gridCol>
              </a:tblGrid>
              <a:tr h="147896">
                <a:tc>
                  <a:txBody>
                    <a:bodyPr/>
                    <a:lstStyle/>
                    <a:p>
                      <a:r>
                        <a:rPr lang="en-MM" sz="600" b="1">
                          <a:solidFill>
                            <a:srgbClr val="000000"/>
                          </a:solidFill>
                          <a:effectLst/>
                        </a:rPr>
                        <a:t>#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</a:rPr>
                        <a:t>Milestone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</a:rPr>
                        <a:t>Status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437116"/>
                  </a:ext>
                </a:extLst>
              </a:tr>
              <a:tr h="351246">
                <a:tc>
                  <a:txBody>
                    <a:bodyPr/>
                    <a:lstStyle/>
                    <a:p>
                      <a:r>
                        <a:rPr lang="en-MM" sz="600" b="1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MM" sz="600">
                        <a:effectLst/>
                      </a:endParaRP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</a:rPr>
                        <a:t>Stabilise Legacy</a:t>
                      </a:r>
                      <a:r>
                        <a:rPr lang="en-US" sz="600">
                          <a:effectLst/>
                        </a:rPr>
                        <a:t> — fix the most visible breakages inherited from the previous codebase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M" sz="600">
                          <a:effectLst/>
                        </a:rPr>
                        <a:t>✅ </a:t>
                      </a:r>
                      <a:r>
                        <a:rPr lang="en-US" sz="600">
                          <a:effectLst/>
                        </a:rPr>
                        <a:t>Done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797121"/>
                  </a:ext>
                </a:extLst>
              </a:tr>
              <a:tr h="351246">
                <a:tc>
                  <a:txBody>
                    <a:bodyPr/>
                    <a:lstStyle/>
                    <a:p>
                      <a:r>
                        <a:rPr lang="en-MM" sz="600" b="1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MM" sz="600">
                        <a:effectLst/>
                      </a:endParaRP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</a:rPr>
                        <a:t>Design Kick-off</a:t>
                      </a:r>
                      <a:r>
                        <a:rPr lang="en-US" sz="600">
                          <a:effectLst/>
                        </a:rPr>
                        <a:t> — use case diagram · ERD draft · class diagram draft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M" sz="600">
                          <a:effectLst/>
                        </a:rPr>
                        <a:t>✅ </a:t>
                      </a:r>
                      <a:r>
                        <a:rPr lang="en-US" sz="600">
                          <a:effectLst/>
                        </a:rPr>
                        <a:t>Done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617506"/>
                  </a:ext>
                </a:extLst>
              </a:tr>
              <a:tr h="556852">
                <a:tc>
                  <a:txBody>
                    <a:bodyPr/>
                    <a:lstStyle/>
                    <a:p>
                      <a:r>
                        <a:rPr lang="en-MM" sz="600" b="1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MM" sz="600">
                        <a:effectLst/>
                      </a:endParaRP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</a:rPr>
                        <a:t>Design Refinement</a:t>
                      </a:r>
                      <a:r>
                        <a:rPr lang="en-US" sz="600">
                          <a:effectLst/>
                        </a:rPr>
                        <a:t> — finalised ERD (23 tables, FK + JSONB) · high-level flow · logical + physical architecture · class diagram per module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M" sz="600">
                          <a:effectLst/>
                        </a:rPr>
                        <a:t>✅ </a:t>
                      </a:r>
                      <a:r>
                        <a:rPr lang="en-US" sz="600">
                          <a:effectLst/>
                        </a:rPr>
                        <a:t>Done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008291"/>
                  </a:ext>
                </a:extLst>
              </a:tr>
              <a:tr h="556852">
                <a:tc>
                  <a:txBody>
                    <a:bodyPr/>
                    <a:lstStyle/>
                    <a:p>
                      <a:r>
                        <a:rPr lang="en-MM" sz="600" b="1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MM" sz="600">
                        <a:effectLst/>
                      </a:endParaRP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</a:rPr>
                        <a:t>User Management · Project · Profile</a:t>
                      </a:r>
                      <a:r>
                        <a:rPr lang="en-US" sz="600">
                          <a:effectLst/>
                        </a:rPr>
                        <a:t> — full module: models, serializers, API, frontend, RBAC, profile types, projects, ponds, parameter types, thresholds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M" sz="600">
                          <a:effectLst/>
                        </a:rPr>
                        <a:t>✅ </a:t>
                      </a:r>
                      <a:r>
                        <a:rPr lang="en-US" sz="600">
                          <a:effectLst/>
                        </a:rPr>
                        <a:t>Done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663596"/>
                  </a:ext>
                </a:extLst>
              </a:tr>
              <a:tr h="556852">
                <a:tc>
                  <a:txBody>
                    <a:bodyPr/>
                    <a:lstStyle/>
                    <a:p>
                      <a:r>
                        <a:rPr lang="en-MM" sz="600" b="1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MM" sz="600">
                        <a:effectLst/>
                      </a:endParaRP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</a:rPr>
                        <a:t>Digital Twin &amp; Visualisation</a:t>
                      </a:r>
                      <a:r>
                        <a:rPr lang="en-US" sz="600">
                          <a:effectLst/>
                        </a:rPr>
                        <a:t> — real-time per-pond view · multi-parameter historical trends with selectable time grouping · exportable data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M" sz="600" dirty="0">
                          <a:effectLst/>
                        </a:rPr>
                        <a:t>✅ </a:t>
                      </a:r>
                      <a:r>
                        <a:rPr lang="en-US" sz="600" dirty="0">
                          <a:effectLst/>
                        </a:rPr>
                        <a:t>Done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786471"/>
                  </a:ext>
                </a:extLst>
              </a:tr>
              <a:tr h="454049">
                <a:tc>
                  <a:txBody>
                    <a:bodyPr/>
                    <a:lstStyle/>
                    <a:p>
                      <a:r>
                        <a:rPr lang="en-MM" sz="600" b="1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MM" sz="600">
                        <a:effectLst/>
                      </a:endParaRP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</a:rPr>
                        <a:t>Pond Comparison</a:t>
                      </a:r>
                      <a:r>
                        <a:rPr lang="en-US" sz="600">
                          <a:effectLst/>
                        </a:rPr>
                        <a:t> — multi-pond selector · parameter summary · comparison chart over a chosen date range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M" sz="600">
                          <a:effectLst/>
                        </a:rPr>
                        <a:t>🟡 </a:t>
                      </a:r>
                      <a:r>
                        <a:rPr lang="en-US" sz="600">
                          <a:effectLst/>
                        </a:rPr>
                        <a:t>In progress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400492"/>
                  </a:ext>
                </a:extLst>
              </a:tr>
              <a:tr h="659657">
                <a:tc>
                  <a:txBody>
                    <a:bodyPr/>
                    <a:lstStyle/>
                    <a:p>
                      <a:r>
                        <a:rPr lang="en-MM" sz="600" b="1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MM" sz="600">
                        <a:effectLst/>
                      </a:endParaRP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</a:rPr>
                        <a:t>Deployment (CI/CD) &amp; Security Hardening</a:t>
                      </a:r>
                      <a:r>
                        <a:rPr lang="en-US" sz="600">
                          <a:effectLst/>
                        </a:rPr>
                        <a:t> — CI pipeline (lint · type · unit · E2E · SAST · DAST · SCA · load · stress) · Terraform IaC · GCP demo · HttpOnly + CSRF + input validation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M" sz="600">
                          <a:effectLst/>
                        </a:rPr>
                        <a:t>🟡 </a:t>
                      </a:r>
                      <a:r>
                        <a:rPr lang="en-US" sz="600">
                          <a:effectLst/>
                        </a:rPr>
                        <a:t>In progress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930147"/>
                  </a:ext>
                </a:extLst>
              </a:tr>
              <a:tr h="556852">
                <a:tc>
                  <a:txBody>
                    <a:bodyPr/>
                    <a:lstStyle/>
                    <a:p>
                      <a:r>
                        <a:rPr lang="en-MM" sz="600" b="1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MM" sz="600">
                        <a:effectLst/>
                      </a:endParaRP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</a:rPr>
                        <a:t>MQTT + IoT Pipeline</a:t>
                      </a:r>
                      <a:r>
                        <a:rPr lang="en-US" sz="600">
                          <a:effectLst/>
                        </a:rPr>
                        <a:t> — Mosquitto broker · Raspberry Pi adapter · WebSocket pipeline (Django Channels + Redis) · sensor message archive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M" sz="600">
                          <a:effectLst/>
                        </a:rPr>
                        <a:t>🟡 </a:t>
                      </a:r>
                      <a:r>
                        <a:rPr lang="en-US" sz="600">
                          <a:effectLst/>
                        </a:rPr>
                        <a:t>In progress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107086"/>
                  </a:ext>
                </a:extLst>
              </a:tr>
              <a:tr h="556852">
                <a:tc>
                  <a:txBody>
                    <a:bodyPr/>
                    <a:lstStyle/>
                    <a:p>
                      <a:r>
                        <a:rPr lang="en-MM" sz="600" b="1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n-MM" sz="600">
                        <a:effectLst/>
                      </a:endParaRP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</a:rPr>
                        <a:t>Notification Service</a:t>
                      </a:r>
                      <a:r>
                        <a:rPr lang="en-US" sz="600">
                          <a:effectLst/>
                        </a:rPr>
                        <a:t> — multi-channel alert delivery (in-app · email · WhatsApp) · acknowledgement audit trail · per-user subscription preferences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>
                          <a:effectLst/>
                        </a:rPr>
                        <a:t>⚪ Upcoming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376131"/>
                  </a:ext>
                </a:extLst>
              </a:tr>
              <a:tr h="454049">
                <a:tc>
                  <a:txBody>
                    <a:bodyPr/>
                    <a:lstStyle/>
                    <a:p>
                      <a:r>
                        <a:rPr lang="en-MM" sz="600" b="1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n-MM" sz="600">
                        <a:effectLst/>
                      </a:endParaRP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rgbClr val="000000"/>
                          </a:solidFill>
                          <a:effectLst/>
                        </a:rPr>
                        <a:t>Model Integration</a:t>
                      </a:r>
                      <a:r>
                        <a:rPr lang="en-US" sz="600">
                          <a:effectLst/>
                        </a:rPr>
                        <a:t> — predictive ML layer for water-quality forecasting · anomaly detection · treatment-effectiveness analytics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effectLst/>
                        </a:rPr>
                        <a:t>⚪ Upcoming</a:t>
                      </a:r>
                    </a:p>
                  </a:txBody>
                  <a:tcPr marL="40388" marR="40388" marT="18641" marB="18641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757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2B94EA-5E2B-5B7E-C884-1A0AB884E425}"/>
              </a:ext>
            </a:extLst>
          </p:cNvPr>
          <p:cNvSpPr txBox="1"/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Backlog (User Stories)</a:t>
            </a:r>
          </a:p>
        </p:txBody>
      </p:sp>
    </p:spTree>
    <p:extLst>
      <p:ext uri="{BB962C8B-B14F-4D97-AF65-F5344CB8AC3E}">
        <p14:creationId xmlns:p14="http://schemas.microsoft.com/office/powerpoint/2010/main" val="1328586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0AB409C-D40C-5A80-8451-41E122BD5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643467"/>
            <a:ext cx="11210925" cy="744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MM" sz="3200" b="1" i="0" u="none" strike="noStrike" kern="120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Epic 1 · Authentication &amp; User Management</a:t>
            </a:r>
            <a:endParaRPr kumimoji="0" lang="en-US" altLang="en-MM" sz="32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175746A-3770-37A5-4940-8137BF215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230978"/>
              </p:ext>
            </p:extLst>
          </p:nvPr>
        </p:nvGraphicFramePr>
        <p:xfrm>
          <a:off x="1621030" y="1675227"/>
          <a:ext cx="8949941" cy="4394203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1238452">
                  <a:extLst>
                    <a:ext uri="{9D8B030D-6E8A-4147-A177-3AD203B41FA5}">
                      <a16:colId xmlns:a16="http://schemas.microsoft.com/office/drawing/2014/main" val="1848598548"/>
                    </a:ext>
                  </a:extLst>
                </a:gridCol>
                <a:gridCol w="7711489">
                  <a:extLst>
                    <a:ext uri="{9D8B030D-6E8A-4147-A177-3AD203B41FA5}">
                      <a16:colId xmlns:a16="http://schemas.microsoft.com/office/drawing/2014/main" val="1103912446"/>
                    </a:ext>
                  </a:extLst>
                </a:gridCol>
              </a:tblGrid>
              <a:tr h="41300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  <a:effectLst/>
                        </a:rPr>
                        <a:t>User Story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039273"/>
                  </a:ext>
                </a:extLst>
              </a:tr>
              <a:tr h="413001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US-01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As a user, I want to sign in and out securely so that my session is protected.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60902"/>
                  </a:ext>
                </a:extLst>
              </a:tr>
              <a:tr h="413001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US-02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As a user, I want to view my own profile so that I can confirm my account details.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425343"/>
                  </a:ext>
                </a:extLst>
              </a:tr>
              <a:tr h="631040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US-03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As a user, I want to update my own profile (name, mobile, password) so that my information stays current.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637074"/>
                  </a:ext>
                </a:extLst>
              </a:tr>
              <a:tr h="631040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US-04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As a platform admin, I want to onboard new users with a default feature-access set so that new staff can start working immediately.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63070"/>
                  </a:ext>
                </a:extLst>
              </a:tr>
              <a:tr h="631040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US-05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As a platform admin, I want to manage another user's feature access and action controls so that permissions match each user's responsibilities.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377037"/>
                  </a:ext>
                </a:extLst>
              </a:tr>
              <a:tr h="631040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US-06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As a platform admin, I want to assign users to one or more projects so that they only see ponds in projects they own.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941748"/>
                  </a:ext>
                </a:extLst>
              </a:tr>
              <a:tr h="631040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US-07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</a:rPr>
                        <a:t>As a platform admin, I want to deactivate a user account without deleting it so that I preserve audit history.</a:t>
                      </a:r>
                    </a:p>
                  </a:txBody>
                  <a:tcPr marL="100508" marR="100508" marT="104966" marB="463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0482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903E181-ADE6-DB10-7047-78197064F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643467"/>
            <a:ext cx="11210925" cy="744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MM" sz="3200" b="1" i="0" u="none" strike="noStrike" kern="120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Epic 2 · Pond Operations</a:t>
            </a:r>
            <a:endParaRPr kumimoji="0" lang="en-US" altLang="en-MM" sz="32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B5C810-5CB5-CA2B-5C30-1A2498162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89905"/>
              </p:ext>
            </p:extLst>
          </p:nvPr>
        </p:nvGraphicFramePr>
        <p:xfrm>
          <a:off x="1578905" y="1675227"/>
          <a:ext cx="9034191" cy="4394202"/>
        </p:xfrm>
        <a:graphic>
          <a:graphicData uri="http://schemas.openxmlformats.org/drawingml/2006/table">
            <a:tbl>
              <a:tblPr/>
              <a:tblGrid>
                <a:gridCol w="2649361">
                  <a:extLst>
                    <a:ext uri="{9D8B030D-6E8A-4147-A177-3AD203B41FA5}">
                      <a16:colId xmlns:a16="http://schemas.microsoft.com/office/drawing/2014/main" val="3910938573"/>
                    </a:ext>
                  </a:extLst>
                </a:gridCol>
                <a:gridCol w="6384830">
                  <a:extLst>
                    <a:ext uri="{9D8B030D-6E8A-4147-A177-3AD203B41FA5}">
                      <a16:colId xmlns:a16="http://schemas.microsoft.com/office/drawing/2014/main" val="2767803173"/>
                    </a:ext>
                  </a:extLst>
                </a:gridCol>
              </a:tblGrid>
              <a:tr h="3721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ID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8388" marR="108388" marT="50025" marB="5002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User Story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8388" marR="108388" marT="50025" marB="5002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049813"/>
                  </a:ext>
                </a:extLst>
              </a:tr>
              <a:tr h="8524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US-08</a:t>
                      </a:r>
                    </a:p>
                  </a:txBody>
                  <a:tcPr marL="108388" marR="108388" marT="50025" marB="5002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As a farm manager, I want to see all my ponds and their current health status on one overview screen so that I can spot problems at a glance.</a:t>
                      </a:r>
                    </a:p>
                  </a:txBody>
                  <a:tcPr marL="108388" marR="108388" marT="50025" marB="5002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956944"/>
                  </a:ext>
                </a:extLst>
              </a:tr>
              <a:tr h="6123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US-09</a:t>
                      </a:r>
                    </a:p>
                  </a:txBody>
                  <a:tcPr marL="108388" marR="108388" marT="50025" marB="5002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As a farm manager, I want to view a digital twin of each pond so that I can see live water-quality parameters in context.</a:t>
                      </a:r>
                    </a:p>
                  </a:txBody>
                  <a:tcPr marL="108388" marR="108388" marT="50025" marB="5002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61197"/>
                  </a:ext>
                </a:extLst>
              </a:tr>
              <a:tr h="8524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US-10</a:t>
                      </a:r>
                    </a:p>
                  </a:txBody>
                  <a:tcPr marL="108388" marR="108388" marT="50025" marB="5002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As a farm manager, I want to view real-time and forecasted parameter trends so that I can plan adjustments before conditions degrade.</a:t>
                      </a:r>
                    </a:p>
                  </a:txBody>
                  <a:tcPr marL="108388" marR="108388" marT="50025" marB="5002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427414"/>
                  </a:ext>
                </a:extLst>
              </a:tr>
              <a:tr h="8524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US-11</a:t>
                      </a:r>
                    </a:p>
                  </a:txBody>
                  <a:tcPr marL="108388" marR="108388" marT="50025" marB="5002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As a farm manager, I want to compare multiple ponds side by side over a chosen date range so that I can learn what's working in my best-performing pond.</a:t>
                      </a:r>
                    </a:p>
                  </a:txBody>
                  <a:tcPr marL="108388" marR="108388" marT="50025" marB="5002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200667"/>
                  </a:ext>
                </a:extLst>
              </a:tr>
              <a:tr h="8524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US-12</a:t>
                      </a:r>
                    </a:p>
                  </a:txBody>
                  <a:tcPr marL="108388" marR="108388" marT="50025" marB="5002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As a farm manager, I want a parameter-summary comparison and a comparison chart so that I have both tabular and visual views of the comparison.</a:t>
                      </a:r>
                    </a:p>
                  </a:txBody>
                  <a:tcPr marL="108388" marR="108388" marT="50025" marB="5002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910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03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D292D76-3166-35E3-FB70-1567450CB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643467"/>
            <a:ext cx="11210925" cy="744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MM" sz="3200" b="1" i="0" u="none" strike="noStrike" kern="120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Epic 3 · Cycle &amp; Growth Management</a:t>
            </a:r>
            <a:endParaRPr kumimoji="0" lang="en-US" altLang="en-MM" sz="32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43E65B-78BD-70AC-6F41-7BFF1DD89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70264"/>
              </p:ext>
            </p:extLst>
          </p:nvPr>
        </p:nvGraphicFramePr>
        <p:xfrm>
          <a:off x="643467" y="1804910"/>
          <a:ext cx="10905067" cy="4134835"/>
        </p:xfrm>
        <a:graphic>
          <a:graphicData uri="http://schemas.openxmlformats.org/drawingml/2006/table">
            <a:tbl>
              <a:tblPr/>
              <a:tblGrid>
                <a:gridCol w="3189663">
                  <a:extLst>
                    <a:ext uri="{9D8B030D-6E8A-4147-A177-3AD203B41FA5}">
                      <a16:colId xmlns:a16="http://schemas.microsoft.com/office/drawing/2014/main" val="150122612"/>
                    </a:ext>
                  </a:extLst>
                </a:gridCol>
                <a:gridCol w="7715404">
                  <a:extLst>
                    <a:ext uri="{9D8B030D-6E8A-4147-A177-3AD203B41FA5}">
                      <a16:colId xmlns:a16="http://schemas.microsoft.com/office/drawing/2014/main" val="2351773342"/>
                    </a:ext>
                  </a:extLst>
                </a:gridCol>
              </a:tblGrid>
              <a:tr h="4661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ID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39" marR="135739" marT="62649" marB="62649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User Story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739" marR="135739" marT="62649" marB="62649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02869"/>
                  </a:ext>
                </a:extLst>
              </a:tr>
              <a:tr h="7668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US-13</a:t>
                      </a:r>
                    </a:p>
                  </a:txBody>
                  <a:tcPr marL="135739" marR="135739" marT="62649" marB="62649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As a farm manager, I want to start a new growth cycle for a pond so that all subsequent readings are attributed to that cycle.</a:t>
                      </a:r>
                    </a:p>
                  </a:txBody>
                  <a:tcPr marL="135739" marR="135739" marT="62649" marB="62649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452120"/>
                  </a:ext>
                </a:extLst>
              </a:tr>
              <a:tr h="7668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US-14</a:t>
                      </a:r>
                    </a:p>
                  </a:txBody>
                  <a:tcPr marL="135739" marR="135739" marT="62649" marB="62649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As a farm manager, I want to record daily health observations for each cycle so that I have a per-day record of growth quality.</a:t>
                      </a:r>
                    </a:p>
                  </a:txBody>
                  <a:tcPr marL="135739" marR="135739" marT="62649" marB="62649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006453"/>
                  </a:ext>
                </a:extLst>
              </a:tr>
              <a:tr h="10675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US-15</a:t>
                      </a:r>
                    </a:p>
                  </a:txBody>
                  <a:tcPr marL="135739" marR="135739" marT="62649" marB="62649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As a farm manager, I want to advance a cycle through its lifecycle stages (juvenile · grow-out · pre-harvest) so that the platform tracks where each pond is in its cycle.</a:t>
                      </a:r>
                    </a:p>
                  </a:txBody>
                  <a:tcPr marL="135739" marR="135739" marT="62649" marB="62649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086804"/>
                  </a:ext>
                </a:extLst>
              </a:tr>
              <a:tr h="10675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US-16</a:t>
                      </a:r>
                    </a:p>
                  </a:txBody>
                  <a:tcPr marL="135739" marR="135739" marT="62649" marB="62649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As a farm manager, I want a cycle-health overview that aggregates alerts and key indicators by cycle so that I can review the cycle's full health story when it closes.</a:t>
                      </a:r>
                    </a:p>
                  </a:txBody>
                  <a:tcPr marL="135739" marR="135739" marT="62649" marB="62649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180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324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6C61F0-F412-EB3C-1D46-266656C30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643467"/>
            <a:ext cx="11210925" cy="744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MM" sz="3200" b="1" i="0" u="none" strike="noStrike" kern="120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Epic 4 · Sensor &amp; IoT Management</a:t>
            </a:r>
            <a:endParaRPr kumimoji="0" lang="en-US" altLang="en-MM" sz="32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7092BF-F760-DAEA-D370-39495F335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721294"/>
              </p:ext>
            </p:extLst>
          </p:nvPr>
        </p:nvGraphicFramePr>
        <p:xfrm>
          <a:off x="643467" y="1956852"/>
          <a:ext cx="10905067" cy="3830951"/>
        </p:xfrm>
        <a:graphic>
          <a:graphicData uri="http://schemas.openxmlformats.org/drawingml/2006/table">
            <a:tbl>
              <a:tblPr/>
              <a:tblGrid>
                <a:gridCol w="2528616">
                  <a:extLst>
                    <a:ext uri="{9D8B030D-6E8A-4147-A177-3AD203B41FA5}">
                      <a16:colId xmlns:a16="http://schemas.microsoft.com/office/drawing/2014/main" val="3370028793"/>
                    </a:ext>
                  </a:extLst>
                </a:gridCol>
                <a:gridCol w="8376451">
                  <a:extLst>
                    <a:ext uri="{9D8B030D-6E8A-4147-A177-3AD203B41FA5}">
                      <a16:colId xmlns:a16="http://schemas.microsoft.com/office/drawing/2014/main" val="496117366"/>
                    </a:ext>
                  </a:extLst>
                </a:gridCol>
              </a:tblGrid>
              <a:tr h="418581"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000000"/>
                          </a:solidFill>
                          <a:effectLst/>
                        </a:rPr>
                        <a:t>ID</a:t>
                      </a:r>
                    </a:p>
                  </a:txBody>
                  <a:tcPr marL="118570" marR="118570" marT="54724" marB="547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solidFill>
                            <a:srgbClr val="000000"/>
                          </a:solidFill>
                          <a:effectLst/>
                        </a:rPr>
                        <a:t>User Story</a:t>
                      </a:r>
                    </a:p>
                  </a:txBody>
                  <a:tcPr marL="118570" marR="118570" marT="54724" marB="547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055250"/>
                  </a:ext>
                </a:extLst>
              </a:tr>
              <a:tr h="68247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US-17</a:t>
                      </a:r>
                    </a:p>
                  </a:txBody>
                  <a:tcPr marL="118570" marR="118570" marT="54724" marB="547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As a system admin, I want to register IoT devices (code, status, configuration) so that incoming MQTT messages are accepted only from known devices.</a:t>
                      </a:r>
                    </a:p>
                  </a:txBody>
                  <a:tcPr marL="118570" marR="118570" marT="54724" marB="547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190706"/>
                  </a:ext>
                </a:extLst>
              </a:tr>
              <a:tr h="68247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US-18</a:t>
                      </a:r>
                    </a:p>
                  </a:txBody>
                  <a:tcPr marL="118570" marR="118570" marT="54724" marB="547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As a system admin, I want to declare sensor types (model number, manufacturer, parameters measured) so that the platform knows what each sensor reports.</a:t>
                      </a:r>
                    </a:p>
                  </a:txBody>
                  <a:tcPr marL="118570" marR="118570" marT="54724" marB="547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678294"/>
                  </a:ext>
                </a:extLst>
              </a:tr>
              <a:tr h="68247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US-19</a:t>
                      </a:r>
                    </a:p>
                  </a:txBody>
                  <a:tcPr marL="118570" marR="118570" marT="54724" marB="547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As a system admin, I want to attach project sensors to specific ponds with GPS coordinates and an installed datetime so that readings are spatially located.</a:t>
                      </a:r>
                    </a:p>
                  </a:txBody>
                  <a:tcPr marL="118570" marR="118570" marT="54724" marB="547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936015"/>
                  </a:ext>
                </a:extLst>
              </a:tr>
              <a:tr h="68247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US-20</a:t>
                      </a:r>
                    </a:p>
                  </a:txBody>
                  <a:tcPr marL="118570" marR="118570" marT="54724" marB="547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As a system admin, I want to activate or deactivate a sensor without deleting it so that I preserve historical data when a sensor is taken offline.</a:t>
                      </a:r>
                    </a:p>
                  </a:txBody>
                  <a:tcPr marL="118570" marR="118570" marT="54724" marB="547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155900"/>
                  </a:ext>
                </a:extLst>
              </a:tr>
              <a:tr h="682474"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US-21</a:t>
                      </a:r>
                    </a:p>
                  </a:txBody>
                  <a:tcPr marL="118570" marR="118570" marT="54724" marB="547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effectLst/>
                        </a:rPr>
                        <a:t>As a system admin, I want incoming sensor messages to be archived (raw + parsed) so that any reading can be traced back to the original payload.</a:t>
                      </a:r>
                    </a:p>
                  </a:txBody>
                  <a:tcPr marL="118570" marR="118570" marT="54724" marB="547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617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85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171B255-4AB4-4182-3DCC-3497A7917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643467"/>
            <a:ext cx="11210925" cy="744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MM" sz="3200" b="1" i="0" u="none" strike="noStrike" kern="120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Epic 5 · Visualisation &amp; Historical Trends</a:t>
            </a:r>
            <a:endParaRPr kumimoji="0" lang="en-US" altLang="en-MM" sz="32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6ED6CE-62E8-0265-BAE0-3CB3E9A48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450841"/>
              </p:ext>
            </p:extLst>
          </p:nvPr>
        </p:nvGraphicFramePr>
        <p:xfrm>
          <a:off x="643467" y="1870318"/>
          <a:ext cx="10905067" cy="4004019"/>
        </p:xfrm>
        <a:graphic>
          <a:graphicData uri="http://schemas.openxmlformats.org/drawingml/2006/table">
            <a:tbl>
              <a:tblPr/>
              <a:tblGrid>
                <a:gridCol w="2539527">
                  <a:extLst>
                    <a:ext uri="{9D8B030D-6E8A-4147-A177-3AD203B41FA5}">
                      <a16:colId xmlns:a16="http://schemas.microsoft.com/office/drawing/2014/main" val="1506248884"/>
                    </a:ext>
                  </a:extLst>
                </a:gridCol>
                <a:gridCol w="8365540">
                  <a:extLst>
                    <a:ext uri="{9D8B030D-6E8A-4147-A177-3AD203B41FA5}">
                      <a16:colId xmlns:a16="http://schemas.microsoft.com/office/drawing/2014/main" val="133286725"/>
                    </a:ext>
                  </a:extLst>
                </a:gridCol>
              </a:tblGrid>
              <a:tr h="455899">
                <a:tc>
                  <a:txBody>
                    <a:bodyPr/>
                    <a:lstStyle/>
                    <a:p>
                      <a:r>
                        <a:rPr lang="en-US" sz="1900" b="1">
                          <a:solidFill>
                            <a:srgbClr val="000000"/>
                          </a:solidFill>
                          <a:effectLst/>
                        </a:rPr>
                        <a:t>ID</a:t>
                      </a:r>
                    </a:p>
                  </a:txBody>
                  <a:tcPr marL="129141" marR="129141" marT="59603" marB="5960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>
                          <a:solidFill>
                            <a:srgbClr val="000000"/>
                          </a:solidFill>
                          <a:effectLst/>
                        </a:rPr>
                        <a:t>User Story</a:t>
                      </a:r>
                    </a:p>
                  </a:txBody>
                  <a:tcPr marL="129141" marR="129141" marT="59603" marB="5960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875045"/>
                  </a:ext>
                </a:extLst>
              </a:tr>
              <a:tr h="743320"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US-22</a:t>
                      </a:r>
                    </a:p>
                  </a:txBody>
                  <a:tcPr marL="129141" marR="129141" marT="59603" marB="5960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As a system admin, I want to declare visualisation types (chart type, required parameters) so that visualisations are reusable across projects.</a:t>
                      </a:r>
                    </a:p>
                  </a:txBody>
                  <a:tcPr marL="129141" marR="129141" marT="59603" marB="5960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1999"/>
                  </a:ext>
                </a:extLst>
              </a:tr>
              <a:tr h="1030740"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US-23</a:t>
                      </a:r>
                    </a:p>
                  </a:txBody>
                  <a:tcPr marL="129141" marR="129141" marT="59603" marB="5960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As a system admin, I want to configure project-level visualisations (which chart, which X/Y parameters, enable/disable) so that each project's dashboard reflects its parameter set.</a:t>
                      </a:r>
                    </a:p>
                  </a:txBody>
                  <a:tcPr marL="129141" marR="129141" marT="59603" marB="5960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512400"/>
                  </a:ext>
                </a:extLst>
              </a:tr>
              <a:tr h="1030740"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US-24</a:t>
                      </a:r>
                    </a:p>
                  </a:txBody>
                  <a:tcPr marL="129141" marR="129141" marT="59603" marB="5960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As a farm manager, I want to view multi-parameter historical trends with selectable time-range grouping (hourly · daily · weekly · monthly) so that I can analyse trends at the right resolution.</a:t>
                      </a:r>
                    </a:p>
                  </a:txBody>
                  <a:tcPr marL="129141" marR="129141" marT="59603" marB="5960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41525"/>
                  </a:ext>
                </a:extLst>
              </a:tr>
              <a:tr h="743320"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US-25</a:t>
                      </a:r>
                    </a:p>
                  </a:txBody>
                  <a:tcPr marL="129141" marR="129141" marT="59603" marB="5960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As a farm manager, I want to export historical data filtered by date range so that I can share it with external advisors or research collaborators.</a:t>
                      </a:r>
                    </a:p>
                  </a:txBody>
                  <a:tcPr marL="129141" marR="129141" marT="59603" marB="5960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217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84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048C1A0-D250-D97E-0E56-662B25274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643467"/>
            <a:ext cx="11210925" cy="744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MM" sz="3200" b="1" i="0" u="none" strike="noStrike" kern="120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Epic 6 · Alerts &amp; Notifications</a:t>
            </a:r>
            <a:endParaRPr kumimoji="0" lang="en-US" altLang="en-MM" sz="32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EC26AA-7295-2829-D1DF-63DE8A240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032174"/>
              </p:ext>
            </p:extLst>
          </p:nvPr>
        </p:nvGraphicFramePr>
        <p:xfrm>
          <a:off x="1677984" y="1675227"/>
          <a:ext cx="8836033" cy="4394199"/>
        </p:xfrm>
        <a:graphic>
          <a:graphicData uri="http://schemas.openxmlformats.org/drawingml/2006/table">
            <a:tbl>
              <a:tblPr/>
              <a:tblGrid>
                <a:gridCol w="1971119">
                  <a:extLst>
                    <a:ext uri="{9D8B030D-6E8A-4147-A177-3AD203B41FA5}">
                      <a16:colId xmlns:a16="http://schemas.microsoft.com/office/drawing/2014/main" val="476177185"/>
                    </a:ext>
                  </a:extLst>
                </a:gridCol>
                <a:gridCol w="6864914">
                  <a:extLst>
                    <a:ext uri="{9D8B030D-6E8A-4147-A177-3AD203B41FA5}">
                      <a16:colId xmlns:a16="http://schemas.microsoft.com/office/drawing/2014/main" val="4253357918"/>
                    </a:ext>
                  </a:extLst>
                </a:gridCol>
              </a:tblGrid>
              <a:tr h="564612">
                <a:tc>
                  <a:txBody>
                    <a:bodyPr/>
                    <a:lstStyle/>
                    <a:p>
                      <a:r>
                        <a:rPr lang="en-US" sz="2300" b="1">
                          <a:solidFill>
                            <a:srgbClr val="000000"/>
                          </a:solidFill>
                          <a:effectLst/>
                        </a:rPr>
                        <a:t>ID</a:t>
                      </a:r>
                    </a:p>
                  </a:txBody>
                  <a:tcPr marL="159936" marR="159936" marT="73816" marB="7381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1">
                          <a:solidFill>
                            <a:srgbClr val="000000"/>
                          </a:solidFill>
                          <a:effectLst/>
                        </a:rPr>
                        <a:t>User Story</a:t>
                      </a:r>
                    </a:p>
                  </a:txBody>
                  <a:tcPr marL="159936" marR="159936" marT="73816" marB="7381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474807"/>
                  </a:ext>
                </a:extLst>
              </a:tr>
              <a:tr h="1276529">
                <a:tc>
                  <a:txBody>
                    <a:bodyPr/>
                    <a:lstStyle/>
                    <a:p>
                      <a:r>
                        <a:rPr lang="en-US" sz="2300">
                          <a:effectLst/>
                        </a:rPr>
                        <a:t>US-26</a:t>
                      </a:r>
                    </a:p>
                  </a:txBody>
                  <a:tcPr marL="159936" marR="159936" marT="73816" marB="7381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effectLst/>
                        </a:rPr>
                        <a:t>As a farm manager, I want real-time alerts when a parameter crosses its safe threshold so that I can act before stock is lost.</a:t>
                      </a:r>
                    </a:p>
                  </a:txBody>
                  <a:tcPr marL="159936" marR="159936" marT="73816" marB="7381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211035"/>
                  </a:ext>
                </a:extLst>
              </a:tr>
              <a:tr h="1276529">
                <a:tc>
                  <a:txBody>
                    <a:bodyPr/>
                    <a:lstStyle/>
                    <a:p>
                      <a:r>
                        <a:rPr lang="en-US" sz="2300">
                          <a:effectLst/>
                        </a:rPr>
                        <a:t>US-27</a:t>
                      </a:r>
                    </a:p>
                  </a:txBody>
                  <a:tcPr marL="159936" marR="159936" marT="73816" marB="7381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effectLst/>
                        </a:rPr>
                        <a:t>As a farm manager, I want to acknowledge alerts so that I can clear my dashboard once an issue is being handled.</a:t>
                      </a:r>
                    </a:p>
                  </a:txBody>
                  <a:tcPr marL="159936" marR="159936" marT="73816" marB="7381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130243"/>
                  </a:ext>
                </a:extLst>
              </a:tr>
              <a:tr h="1276529">
                <a:tc>
                  <a:txBody>
                    <a:bodyPr/>
                    <a:lstStyle/>
                    <a:p>
                      <a:r>
                        <a:rPr lang="en-US" sz="2300">
                          <a:effectLst/>
                        </a:rPr>
                        <a:t>US-28</a:t>
                      </a:r>
                    </a:p>
                  </a:txBody>
                  <a:tcPr marL="159936" marR="159936" marT="73816" marB="7381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>
                          <a:effectLst/>
                        </a:rPr>
                        <a:t>As a farm manager, I want every alert logged with its parameter, severity, and reading timestamp so that there is an audit trail of every incident.</a:t>
                      </a:r>
                    </a:p>
                  </a:txBody>
                  <a:tcPr marL="159936" marR="159936" marT="73816" marB="73816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30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138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8328BE-BC89-267E-869D-00F8993E9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643467"/>
            <a:ext cx="11210925" cy="744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MM" sz="3200" b="1" i="0" u="none" strike="noStrike" kern="120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Epic 7 · Treatment Management</a:t>
            </a:r>
            <a:endParaRPr kumimoji="0" lang="en-US" altLang="en-MM" sz="32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54E3C9-6A55-1D59-DC7F-FBDD0E06A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834848"/>
              </p:ext>
            </p:extLst>
          </p:nvPr>
        </p:nvGraphicFramePr>
        <p:xfrm>
          <a:off x="643467" y="2070001"/>
          <a:ext cx="10905067" cy="3604652"/>
        </p:xfrm>
        <a:graphic>
          <a:graphicData uri="http://schemas.openxmlformats.org/drawingml/2006/table">
            <a:tbl>
              <a:tblPr/>
              <a:tblGrid>
                <a:gridCol w="2562168">
                  <a:extLst>
                    <a:ext uri="{9D8B030D-6E8A-4147-A177-3AD203B41FA5}">
                      <a16:colId xmlns:a16="http://schemas.microsoft.com/office/drawing/2014/main" val="3852644715"/>
                    </a:ext>
                  </a:extLst>
                </a:gridCol>
                <a:gridCol w="8342899">
                  <a:extLst>
                    <a:ext uri="{9D8B030D-6E8A-4147-A177-3AD203B41FA5}">
                      <a16:colId xmlns:a16="http://schemas.microsoft.com/office/drawing/2014/main" val="3389514537"/>
                    </a:ext>
                  </a:extLst>
                </a:gridCol>
              </a:tblGrid>
              <a:tr h="503990">
                <a:tc>
                  <a:txBody>
                    <a:bodyPr/>
                    <a:lstStyle/>
                    <a:p>
                      <a:r>
                        <a:rPr lang="en-US" sz="2100" b="1">
                          <a:solidFill>
                            <a:srgbClr val="000000"/>
                          </a:solidFill>
                          <a:effectLst/>
                        </a:rPr>
                        <a:t>ID</a:t>
                      </a:r>
                    </a:p>
                  </a:txBody>
                  <a:tcPr marL="142764" marR="142764" marT="65890" marB="658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1">
                          <a:solidFill>
                            <a:srgbClr val="000000"/>
                          </a:solidFill>
                          <a:effectLst/>
                        </a:rPr>
                        <a:t>User Story</a:t>
                      </a:r>
                    </a:p>
                  </a:txBody>
                  <a:tcPr marL="142764" marR="142764" marT="65890" marB="658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23111"/>
                  </a:ext>
                </a:extLst>
              </a:tr>
              <a:tr h="1139467">
                <a:tc>
                  <a:txBody>
                    <a:bodyPr/>
                    <a:lstStyle/>
                    <a:p>
                      <a:r>
                        <a:rPr lang="en-US" sz="2100">
                          <a:effectLst/>
                        </a:rPr>
                        <a:t>US-29</a:t>
                      </a:r>
                    </a:p>
                  </a:txBody>
                  <a:tcPr marL="142764" marR="142764" marT="65890" marB="658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effectLst/>
                        </a:rPr>
                        <a:t>As a farm manager, I want to record treatments applied to a pond (chemical, dosage, timestamp) so that the platform tracks what was done and when.</a:t>
                      </a:r>
                    </a:p>
                  </a:txBody>
                  <a:tcPr marL="142764" marR="142764" marT="65890" marB="658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325936"/>
                  </a:ext>
                </a:extLst>
              </a:tr>
              <a:tr h="1139467">
                <a:tc>
                  <a:txBody>
                    <a:bodyPr/>
                    <a:lstStyle/>
                    <a:p>
                      <a:r>
                        <a:rPr lang="en-US" sz="2100">
                          <a:effectLst/>
                        </a:rPr>
                        <a:t>US-30</a:t>
                      </a:r>
                    </a:p>
                  </a:txBody>
                  <a:tcPr marL="142764" marR="142764" marT="65890" marB="658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effectLst/>
                        </a:rPr>
                        <a:t>As a farm manager, I want to evaluate treatment effectiveness by comparing pre- and post-treatment parameter readings so that I can decide whether the treatment worked.</a:t>
                      </a:r>
                    </a:p>
                  </a:txBody>
                  <a:tcPr marL="142764" marR="142764" marT="65890" marB="658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185416"/>
                  </a:ext>
                </a:extLst>
              </a:tr>
              <a:tr h="821728">
                <a:tc>
                  <a:txBody>
                    <a:bodyPr/>
                    <a:lstStyle/>
                    <a:p>
                      <a:r>
                        <a:rPr lang="en-US" sz="2100">
                          <a:effectLst/>
                        </a:rPr>
                        <a:t>US-31</a:t>
                      </a:r>
                    </a:p>
                  </a:txBody>
                  <a:tcPr marL="142764" marR="142764" marT="65890" marB="658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effectLst/>
                        </a:rPr>
                        <a:t>As a farm manager, I want to view a treatment history per pond so that I can avoid repeating an ineffective treatment.</a:t>
                      </a:r>
                    </a:p>
                  </a:txBody>
                  <a:tcPr marL="142764" marR="142764" marT="65890" marB="658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5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713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361011-357A-C6F4-D590-161A8AA7D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643467"/>
            <a:ext cx="11210925" cy="744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MM" sz="3200" b="1" i="0" u="none" strike="noStrike" kern="120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Epic 8 · Project &amp; Profile Configuration</a:t>
            </a:r>
            <a:endParaRPr kumimoji="0" lang="en-US" altLang="en-MM" sz="32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A57C2C-B701-2BA1-DD22-09FCA5EDE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150418"/>
              </p:ext>
            </p:extLst>
          </p:nvPr>
        </p:nvGraphicFramePr>
        <p:xfrm>
          <a:off x="643467" y="1902398"/>
          <a:ext cx="10905066" cy="3939861"/>
        </p:xfrm>
        <a:graphic>
          <a:graphicData uri="http://schemas.openxmlformats.org/drawingml/2006/table">
            <a:tbl>
              <a:tblPr/>
              <a:tblGrid>
                <a:gridCol w="2543637">
                  <a:extLst>
                    <a:ext uri="{9D8B030D-6E8A-4147-A177-3AD203B41FA5}">
                      <a16:colId xmlns:a16="http://schemas.microsoft.com/office/drawing/2014/main" val="1074064419"/>
                    </a:ext>
                  </a:extLst>
                </a:gridCol>
                <a:gridCol w="8361429">
                  <a:extLst>
                    <a:ext uri="{9D8B030D-6E8A-4147-A177-3AD203B41FA5}">
                      <a16:colId xmlns:a16="http://schemas.microsoft.com/office/drawing/2014/main" val="2139145669"/>
                    </a:ext>
                  </a:extLst>
                </a:gridCol>
              </a:tblGrid>
              <a:tr h="430481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</a:rPr>
                        <a:t>ID</a:t>
                      </a:r>
                    </a:p>
                  </a:txBody>
                  <a:tcPr marL="121941" marR="121941" marT="56280" marB="5628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</a:rPr>
                        <a:t>User Story</a:t>
                      </a:r>
                    </a:p>
                  </a:txBody>
                  <a:tcPr marL="121941" marR="121941" marT="56280" marB="5628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46836"/>
                  </a:ext>
                </a:extLst>
              </a:tr>
              <a:tr h="701876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US-32</a:t>
                      </a:r>
                    </a:p>
                  </a:txBody>
                  <a:tcPr marL="121941" marR="121941" marT="56280" marB="5628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As a system admin, I want to define profile types (shrimp · fish · crab hatchery) so that each farm type has its own schema of parameters and growth stages.</a:t>
                      </a:r>
                    </a:p>
                  </a:txBody>
                  <a:tcPr marL="121941" marR="121941" marT="56280" marB="5628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615925"/>
                  </a:ext>
                </a:extLst>
              </a:tr>
              <a:tr h="701876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US-33</a:t>
                      </a:r>
                    </a:p>
                  </a:txBody>
                  <a:tcPr marL="121941" marR="121941" marT="56280" marB="5628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As a system admin, I want to create projects and assign owners so that the platform supports multi-tenant farm operations.</a:t>
                      </a:r>
                    </a:p>
                  </a:txBody>
                  <a:tcPr marL="121941" marR="121941" marT="56280" marB="5628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756107"/>
                  </a:ext>
                </a:extLst>
              </a:tr>
              <a:tr h="701876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US-34</a:t>
                      </a:r>
                    </a:p>
                  </a:txBody>
                  <a:tcPr marL="121941" marR="121941" marT="56280" marB="5628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As a system admin, I want to add ponds (with metadata + image) under a project so that operators can identify each pond visually.</a:t>
                      </a:r>
                    </a:p>
                  </a:txBody>
                  <a:tcPr marL="121941" marR="121941" marT="56280" marB="5628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665179"/>
                  </a:ext>
                </a:extLst>
              </a:tr>
              <a:tr h="701876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US-35</a:t>
                      </a:r>
                    </a:p>
                  </a:txBody>
                  <a:tcPr marL="121941" marR="121941" marT="56280" marB="5628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As a system admin, I want to declare parameter types (name, unit, data type) so that readings are interpreted consistently across projects.</a:t>
                      </a:r>
                    </a:p>
                  </a:txBody>
                  <a:tcPr marL="121941" marR="121941" marT="56280" marB="5628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244904"/>
                  </a:ext>
                </a:extLst>
              </a:tr>
              <a:tr h="701876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US-36</a:t>
                      </a:r>
                    </a:p>
                  </a:txBody>
                  <a:tcPr marL="121941" marR="121941" marT="56280" marB="5628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As a system admin, I want to set min/max thresholds per project-parameter so that the alerting engine knows what "safe range" means per farm.</a:t>
                      </a:r>
                    </a:p>
                  </a:txBody>
                  <a:tcPr marL="121941" marR="121941" marT="56280" marB="5628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394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6933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66A53-CE19-9646-B986-3D72B027B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643467"/>
            <a:ext cx="11210925" cy="744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MM" sz="3200" b="1" i="0" u="none" strike="noStrike" kern="120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Epic 9 · Security &amp; Compliance</a:t>
            </a:r>
            <a:endParaRPr kumimoji="0" lang="en-US" altLang="en-MM" sz="32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C724B8-F147-A0BD-69A7-4C150F27F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226326"/>
              </p:ext>
            </p:extLst>
          </p:nvPr>
        </p:nvGraphicFramePr>
        <p:xfrm>
          <a:off x="643467" y="1756865"/>
          <a:ext cx="10905067" cy="4230924"/>
        </p:xfrm>
        <a:graphic>
          <a:graphicData uri="http://schemas.openxmlformats.org/drawingml/2006/table">
            <a:tbl>
              <a:tblPr/>
              <a:tblGrid>
                <a:gridCol w="2560483">
                  <a:extLst>
                    <a:ext uri="{9D8B030D-6E8A-4147-A177-3AD203B41FA5}">
                      <a16:colId xmlns:a16="http://schemas.microsoft.com/office/drawing/2014/main" val="2408748577"/>
                    </a:ext>
                  </a:extLst>
                </a:gridCol>
                <a:gridCol w="8344584">
                  <a:extLst>
                    <a:ext uri="{9D8B030D-6E8A-4147-A177-3AD203B41FA5}">
                      <a16:colId xmlns:a16="http://schemas.microsoft.com/office/drawing/2014/main" val="2214633811"/>
                    </a:ext>
                  </a:extLst>
                </a:gridCol>
              </a:tblGrid>
              <a:tr h="432491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</a:rPr>
                        <a:t>ID</a:t>
                      </a:r>
                    </a:p>
                  </a:txBody>
                  <a:tcPr marL="122510" marR="122510" marT="56543" marB="5654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</a:rPr>
                        <a:t>User Story</a:t>
                      </a:r>
                    </a:p>
                  </a:txBody>
                  <a:tcPr marL="122510" marR="122510" marT="56543" marB="5654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862415"/>
                  </a:ext>
                </a:extLst>
              </a:tr>
              <a:tr h="70515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US-37</a:t>
                      </a:r>
                    </a:p>
                  </a:txBody>
                  <a:tcPr marL="122510" marR="122510" marT="56543" marB="5654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As a security-conscious operator, I want authentication tokens stored in HttpOnly cookies so that XSS cannot exfiltrate my session.</a:t>
                      </a:r>
                    </a:p>
                  </a:txBody>
                  <a:tcPr marL="122510" marR="122510" marT="56543" marB="5654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781443"/>
                  </a:ext>
                </a:extLst>
              </a:tr>
              <a:tr h="70515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US-38</a:t>
                      </a:r>
                    </a:p>
                  </a:txBody>
                  <a:tcPr marL="122510" marR="122510" marT="56543" marB="5654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As a security-conscious operator, I want CSRF protection on state-changing endpoints so that cross-site requests cannot act on my behalf.</a:t>
                      </a:r>
                    </a:p>
                  </a:txBody>
                  <a:tcPr marL="122510" marR="122510" marT="56543" marB="5654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77270"/>
                  </a:ext>
                </a:extLst>
              </a:tr>
              <a:tr h="977817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US-39</a:t>
                      </a:r>
                    </a:p>
                  </a:txBody>
                  <a:tcPr marL="122510" marR="122510" marT="56543" marB="5654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As a platform admin, I want all sensitive secrets (DB password, JWT key) stored in Secret Manager rather than env files so that they never appear in logs or images.</a:t>
                      </a:r>
                    </a:p>
                  </a:txBody>
                  <a:tcPr marL="122510" marR="122510" marT="56543" marB="5654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475621"/>
                  </a:ext>
                </a:extLst>
              </a:tr>
              <a:tr h="70515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US-40</a:t>
                      </a:r>
                    </a:p>
                  </a:txBody>
                  <a:tcPr marL="122510" marR="122510" marT="56543" marB="5654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As a platform admin, I want every dependency scanned for known CVEs on every PR so that vulnerable packages don't ship to production.</a:t>
                      </a:r>
                    </a:p>
                  </a:txBody>
                  <a:tcPr marL="122510" marR="122510" marT="56543" marB="5654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300307"/>
                  </a:ext>
                </a:extLst>
              </a:tr>
              <a:tr h="70515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US-41</a:t>
                      </a:r>
                    </a:p>
                  </a:txBody>
                  <a:tcPr marL="122510" marR="122510" marT="56543" marB="5654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As a platform admin, I want static + dynamic security scanning (SAST + DAST) in the pipeline so that source-level and runtime issues are caught before deploy.</a:t>
                      </a:r>
                    </a:p>
                  </a:txBody>
                  <a:tcPr marL="122510" marR="122510" marT="56543" marB="56543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772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116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E386AB-B481-F583-E9F5-CBF020B41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643467"/>
            <a:ext cx="11210925" cy="744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MM" sz="3200" b="1" i="0" u="none" strike="noStrike" kern="1200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Epic 10 · Infrastructure &amp; DevOps</a:t>
            </a:r>
            <a:endParaRPr kumimoji="0" lang="en-US" altLang="en-MM" sz="32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8B9D58-862F-F11B-377B-E21F7AEA4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31877"/>
              </p:ext>
            </p:extLst>
          </p:nvPr>
        </p:nvGraphicFramePr>
        <p:xfrm>
          <a:off x="643467" y="1914655"/>
          <a:ext cx="10905067" cy="3915345"/>
        </p:xfrm>
        <a:graphic>
          <a:graphicData uri="http://schemas.openxmlformats.org/drawingml/2006/table">
            <a:tbl>
              <a:tblPr/>
              <a:tblGrid>
                <a:gridCol w="2563717">
                  <a:extLst>
                    <a:ext uri="{9D8B030D-6E8A-4147-A177-3AD203B41FA5}">
                      <a16:colId xmlns:a16="http://schemas.microsoft.com/office/drawing/2014/main" val="1793056415"/>
                    </a:ext>
                  </a:extLst>
                </a:gridCol>
                <a:gridCol w="8341350">
                  <a:extLst>
                    <a:ext uri="{9D8B030D-6E8A-4147-A177-3AD203B41FA5}">
                      <a16:colId xmlns:a16="http://schemas.microsoft.com/office/drawing/2014/main" val="3275809841"/>
                    </a:ext>
                  </a:extLst>
                </a:gridCol>
              </a:tblGrid>
              <a:tr h="480279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</a:rPr>
                        <a:t>ID</a:t>
                      </a:r>
                    </a:p>
                  </a:txBody>
                  <a:tcPr marL="136047" marR="136047" marT="62790" marB="627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</a:rPr>
                        <a:t>User Story</a:t>
                      </a:r>
                    </a:p>
                  </a:txBody>
                  <a:tcPr marL="136047" marR="136047" marT="62790" marB="627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424700"/>
                  </a:ext>
                </a:extLst>
              </a:tr>
              <a:tr h="783069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US-42</a:t>
                      </a:r>
                    </a:p>
                  </a:txBody>
                  <a:tcPr marL="136047" marR="136047" marT="62790" marB="627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As a developer, I want unit and end-to-end tests to run on every PR so that regressions are caught before merge.</a:t>
                      </a:r>
                    </a:p>
                  </a:txBody>
                  <a:tcPr marL="136047" marR="136047" marT="62790" marB="627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682065"/>
                  </a:ext>
                </a:extLst>
              </a:tr>
              <a:tr h="783069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US-43</a:t>
                      </a:r>
                    </a:p>
                  </a:txBody>
                  <a:tcPr marL="136047" marR="136047" marT="62790" marB="627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As a developer, I want load and stress tests in CI so that performance changes are visible per commit.</a:t>
                      </a:r>
                    </a:p>
                  </a:txBody>
                  <a:tcPr marL="136047" marR="136047" marT="62790" marB="627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74874"/>
                  </a:ext>
                </a:extLst>
              </a:tr>
              <a:tr h="1085859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US-44</a:t>
                      </a:r>
                    </a:p>
                  </a:txBody>
                  <a:tcPr marL="136047" marR="136047" marT="62790" marB="627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As a platform admin, I want the GCP infrastructure provisioned via Terraform so that the environment is reproducible and tear-down is one command.</a:t>
                      </a:r>
                    </a:p>
                  </a:txBody>
                  <a:tcPr marL="136047" marR="136047" marT="62790" marB="627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597813"/>
                  </a:ext>
                </a:extLst>
              </a:tr>
              <a:tr h="783069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US-45</a:t>
                      </a:r>
                    </a:p>
                  </a:txBody>
                  <a:tcPr marL="136047" marR="136047" marT="62790" marB="627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As a platform admin, I want a containerised, scale-to-zero deploy on Cloud Run so that the demo environment costs almost nothing between</a:t>
                      </a:r>
                    </a:p>
                  </a:txBody>
                  <a:tcPr marL="136047" marR="136047" marT="62790" marB="6279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259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090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40C7835-428D-74A0-F9A3-A8F90BB17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643467"/>
            <a:ext cx="11210925" cy="744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MM" sz="32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Epic 11 · Notification Service</a:t>
            </a:r>
            <a:r>
              <a:rPr kumimoji="0" lang="en-US" altLang="en-MM" sz="3200" b="0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C63C52-E640-F8E8-4004-EA1C56D69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213585"/>
              </p:ext>
            </p:extLst>
          </p:nvPr>
        </p:nvGraphicFramePr>
        <p:xfrm>
          <a:off x="643467" y="1745854"/>
          <a:ext cx="10905067" cy="42529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96190">
                  <a:extLst>
                    <a:ext uri="{9D8B030D-6E8A-4147-A177-3AD203B41FA5}">
                      <a16:colId xmlns:a16="http://schemas.microsoft.com/office/drawing/2014/main" val="1253229794"/>
                    </a:ext>
                  </a:extLst>
                </a:gridCol>
                <a:gridCol w="9208877">
                  <a:extLst>
                    <a:ext uri="{9D8B030D-6E8A-4147-A177-3AD203B41FA5}">
                      <a16:colId xmlns:a16="http://schemas.microsoft.com/office/drawing/2014/main" val="1730745956"/>
                    </a:ext>
                  </a:extLst>
                </a:gridCol>
              </a:tblGrid>
              <a:tr h="628213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</a:p>
                  </a:txBody>
                  <a:tcPr marL="0" marR="83391" marT="33356" marB="2501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  <a:effectLst/>
                        </a:rPr>
                        <a:t>User Story</a:t>
                      </a:r>
                    </a:p>
                  </a:txBody>
                  <a:tcPr marL="0" marR="83391" marT="33356" marB="2501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472651"/>
                  </a:ext>
                </a:extLst>
              </a:tr>
              <a:tr h="90618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US-46</a:t>
                      </a:r>
                    </a:p>
                  </a:txBody>
                  <a:tcPr marL="0" marR="83391" marT="33356" marB="2501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As a farm manager, I want critical alerts delivered via email so that I can react even when I'm not logged into the dashboard.</a:t>
                      </a:r>
                    </a:p>
                  </a:txBody>
                  <a:tcPr marL="0" marR="83391" marT="33356" marB="2501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330398"/>
                  </a:ext>
                </a:extLst>
              </a:tr>
              <a:tr h="90618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US-47</a:t>
                      </a:r>
                    </a:p>
                  </a:txBody>
                  <a:tcPr marL="0" marR="83391" marT="33356" marB="2501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As a farm manager, I want critical alerts delivered via WhatsApp so that I can react on mobile within seconds.</a:t>
                      </a:r>
                    </a:p>
                  </a:txBody>
                  <a:tcPr marL="0" marR="83391" marT="33356" marB="2501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024769"/>
                  </a:ext>
                </a:extLst>
              </a:tr>
              <a:tr h="90618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US-48</a:t>
                      </a:r>
                    </a:p>
                  </a:txBody>
                  <a:tcPr marL="0" marR="83391" marT="33356" marB="2501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As a farm manager, I want to configure which alert severities go to which channel so that low-severity alerts don't disrupt me out of hours.</a:t>
                      </a:r>
                    </a:p>
                  </a:txBody>
                  <a:tcPr marL="0" marR="83391" marT="33356" marB="2501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307591"/>
                  </a:ext>
                </a:extLst>
              </a:tr>
              <a:tr h="906183"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US-49</a:t>
                      </a:r>
                    </a:p>
                  </a:txBody>
                  <a:tcPr marL="0" marR="83391" marT="33356" marB="2501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  <a:effectLst/>
                        </a:rPr>
                        <a:t>As a farm manager, I want an audit trail of which notifications were delivered to which channels so that I can investigate missed-alert disputes.</a:t>
                      </a:r>
                    </a:p>
                  </a:txBody>
                  <a:tcPr marL="0" marR="83391" marT="33356" marB="25017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989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674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58CB95-0751-1ED9-9256-21EB90F3B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32" y="643467"/>
            <a:ext cx="11210925" cy="744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MM" sz="3200" b="1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Epic 12 · Model Integration</a:t>
            </a:r>
            <a:r>
              <a:rPr kumimoji="0" lang="en-US" altLang="en-MM" sz="3200" b="0" i="0" u="none" strike="noStrike" kern="1200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339AA5-1C46-3791-98BC-78B8A24F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684063"/>
              </p:ext>
            </p:extLst>
          </p:nvPr>
        </p:nvGraphicFramePr>
        <p:xfrm>
          <a:off x="643467" y="1865062"/>
          <a:ext cx="10905067" cy="4014530"/>
        </p:xfrm>
        <a:graphic>
          <a:graphicData uri="http://schemas.openxmlformats.org/drawingml/2006/table">
            <a:tbl>
              <a:tblPr/>
              <a:tblGrid>
                <a:gridCol w="2550291">
                  <a:extLst>
                    <a:ext uri="{9D8B030D-6E8A-4147-A177-3AD203B41FA5}">
                      <a16:colId xmlns:a16="http://schemas.microsoft.com/office/drawing/2014/main" val="257950434"/>
                    </a:ext>
                  </a:extLst>
                </a:gridCol>
                <a:gridCol w="8354776">
                  <a:extLst>
                    <a:ext uri="{9D8B030D-6E8A-4147-A177-3AD203B41FA5}">
                      <a16:colId xmlns:a16="http://schemas.microsoft.com/office/drawing/2014/main" val="2716282180"/>
                    </a:ext>
                  </a:extLst>
                </a:gridCol>
              </a:tblGrid>
              <a:tr h="457096">
                <a:tc>
                  <a:txBody>
                    <a:bodyPr/>
                    <a:lstStyle/>
                    <a:p>
                      <a:r>
                        <a:rPr lang="en-US" sz="1900" b="1">
                          <a:solidFill>
                            <a:srgbClr val="000000"/>
                          </a:solidFill>
                          <a:effectLst/>
                        </a:rPr>
                        <a:t>ID</a:t>
                      </a:r>
                    </a:p>
                  </a:txBody>
                  <a:tcPr marL="129480" marR="129480" marT="59760" marB="5976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>
                          <a:solidFill>
                            <a:srgbClr val="000000"/>
                          </a:solidFill>
                          <a:effectLst/>
                        </a:rPr>
                        <a:t>User Story</a:t>
                      </a:r>
                    </a:p>
                  </a:txBody>
                  <a:tcPr marL="129480" marR="129480" marT="59760" marB="5976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926033"/>
                  </a:ext>
                </a:extLst>
              </a:tr>
              <a:tr h="1033446"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US-50</a:t>
                      </a:r>
                    </a:p>
                  </a:txBody>
                  <a:tcPr marL="129480" marR="129480" marT="59760" marB="5976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As a farm manager, I want a predictive forecast of water-quality parameters for the next 24 hours so that I can plan interventions before conditions degrade.</a:t>
                      </a:r>
                    </a:p>
                  </a:txBody>
                  <a:tcPr marL="129480" marR="129480" marT="59760" marB="5976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447122"/>
                  </a:ext>
                </a:extLst>
              </a:tr>
              <a:tr h="745271"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US-51</a:t>
                      </a:r>
                    </a:p>
                  </a:txBody>
                  <a:tcPr marL="129480" marR="129480" marT="59760" marB="5976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As a farm manager, I want anomaly detection that flags unusual sensor patterns so that I can investigate before they become alert events.</a:t>
                      </a:r>
                    </a:p>
                  </a:txBody>
                  <a:tcPr marL="129480" marR="129480" marT="59760" marB="5976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602019"/>
                  </a:ext>
                </a:extLst>
              </a:tr>
              <a:tr h="1033446"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US-52</a:t>
                      </a:r>
                    </a:p>
                  </a:txBody>
                  <a:tcPr marL="129480" marR="129480" marT="59760" marB="5976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As a farm manager, I want a model-driven evaluation of treatment effectiveness so that I can quantify whether a treatment actually improved water quality.</a:t>
                      </a:r>
                    </a:p>
                  </a:txBody>
                  <a:tcPr marL="129480" marR="129480" marT="59760" marB="5976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31163"/>
                  </a:ext>
                </a:extLst>
              </a:tr>
              <a:tr h="745271"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US-53</a:t>
                      </a:r>
                    </a:p>
                  </a:txBody>
                  <a:tcPr marL="129480" marR="129480" marT="59760" marB="5976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effectLst/>
                        </a:rPr>
                        <a:t>As a platform admin, I want the predictive model to be re-trainable on new sensor data so that the platform improves as the data set grows.</a:t>
                      </a:r>
                    </a:p>
                  </a:txBody>
                  <a:tcPr marL="129480" marR="129480" marT="59760" marB="5976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135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325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Sprint Effort (Estimate vs Actual, All Sprints)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317876-53F5-9DB4-2238-FC8EDEBFC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753394"/>
              </p:ext>
            </p:extLst>
          </p:nvPr>
        </p:nvGraphicFramePr>
        <p:xfrm>
          <a:off x="643467" y="1873859"/>
          <a:ext cx="10905069" cy="3996939"/>
        </p:xfrm>
        <a:graphic>
          <a:graphicData uri="http://schemas.openxmlformats.org/drawingml/2006/table">
            <a:tbl>
              <a:tblPr firstRow="1" bandRow="1"/>
              <a:tblGrid>
                <a:gridCol w="599886">
                  <a:extLst>
                    <a:ext uri="{9D8B030D-6E8A-4147-A177-3AD203B41FA5}">
                      <a16:colId xmlns:a16="http://schemas.microsoft.com/office/drawing/2014/main" val="3805804684"/>
                    </a:ext>
                  </a:extLst>
                </a:gridCol>
                <a:gridCol w="4393663">
                  <a:extLst>
                    <a:ext uri="{9D8B030D-6E8A-4147-A177-3AD203B41FA5}">
                      <a16:colId xmlns:a16="http://schemas.microsoft.com/office/drawing/2014/main" val="410585429"/>
                    </a:ext>
                  </a:extLst>
                </a:gridCol>
                <a:gridCol w="780372">
                  <a:extLst>
                    <a:ext uri="{9D8B030D-6E8A-4147-A177-3AD203B41FA5}">
                      <a16:colId xmlns:a16="http://schemas.microsoft.com/office/drawing/2014/main" val="2489137436"/>
                    </a:ext>
                  </a:extLst>
                </a:gridCol>
                <a:gridCol w="623117">
                  <a:extLst>
                    <a:ext uri="{9D8B030D-6E8A-4147-A177-3AD203B41FA5}">
                      <a16:colId xmlns:a16="http://schemas.microsoft.com/office/drawing/2014/main" val="4258265257"/>
                    </a:ext>
                  </a:extLst>
                </a:gridCol>
                <a:gridCol w="4508031">
                  <a:extLst>
                    <a:ext uri="{9D8B030D-6E8A-4147-A177-3AD203B41FA5}">
                      <a16:colId xmlns:a16="http://schemas.microsoft.com/office/drawing/2014/main" val="2056885586"/>
                    </a:ext>
                  </a:extLst>
                </a:gridCol>
              </a:tblGrid>
              <a:tr h="2452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Sprint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Roadmap milestone(s) covered </a:t>
                      </a:r>
                      <a:r>
                        <a:rPr lang="en-US" sz="1100" b="1" i="1">
                          <a:solidFill>
                            <a:srgbClr val="000000"/>
                          </a:solidFill>
                          <a:effectLst/>
                        </a:rPr>
                        <a:t>(slide 3)</a:t>
                      </a:r>
                      <a:endParaRPr lang="en-US" sz="1100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Estimate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Actual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Variance note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75146"/>
                  </a:ext>
                </a:extLst>
              </a:tr>
              <a:tr h="245298">
                <a:tc>
                  <a:txBody>
                    <a:bodyPr/>
                    <a:lstStyle/>
                    <a:p>
                      <a:r>
                        <a:rPr lang="en-MM" sz="1100" b="1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MM" sz="1100"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M1</a:t>
                      </a:r>
                      <a:r>
                        <a:rPr lang="en-US" sz="1100">
                          <a:effectLst/>
                        </a:rPr>
                        <a:t> — Stabilise Legacy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70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85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Legacy bug surface larger than first-pass triage suggested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242027"/>
                  </a:ext>
                </a:extLst>
              </a:tr>
              <a:tr h="245298">
                <a:tc>
                  <a:txBody>
                    <a:bodyPr/>
                    <a:lstStyle/>
                    <a:p>
                      <a:r>
                        <a:rPr lang="en-MM" sz="1100" b="1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MM" sz="1100"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M2</a:t>
                      </a:r>
                      <a:r>
                        <a:rPr lang="en-US" sz="1100">
                          <a:effectLst/>
                        </a:rPr>
                        <a:t> — Design Kick-off (use case · ERD draft · class diagram draft)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80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95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Mentor review pushed an extra iteration on the use case + ERD draft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773851"/>
                  </a:ext>
                </a:extLst>
              </a:tr>
              <a:tr h="416849">
                <a:tc>
                  <a:txBody>
                    <a:bodyPr/>
                    <a:lstStyle/>
                    <a:p>
                      <a:r>
                        <a:rPr lang="en-MM" sz="1100" b="1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MM" sz="1100"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M3</a:t>
                      </a:r>
                      <a:r>
                        <a:rPr lang="en-US" sz="1100">
                          <a:effectLst/>
                        </a:rPr>
                        <a:t> — Design Refinement I (ERD final · high-level flow · logical architecture)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80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90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ERD finalisation touched 23 tables; JSONB references took extra time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132498"/>
                  </a:ext>
                </a:extLst>
              </a:tr>
              <a:tr h="416849">
                <a:tc>
                  <a:txBody>
                    <a:bodyPr/>
                    <a:lstStyle/>
                    <a:p>
                      <a:r>
                        <a:rPr lang="en-MM" sz="1100" b="1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MM" sz="1100"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M3</a:t>
                      </a:r>
                      <a:r>
                        <a:rPr lang="en-US" sz="1100">
                          <a:effectLst/>
                        </a:rPr>
                        <a:t> continued — Design Refinement II (class diagram per module · physical architecture)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80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95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Physical architecture diagram redrawn twice after Sprint 4 mentor review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204777"/>
                  </a:ext>
                </a:extLst>
              </a:tr>
              <a:tr h="416849">
                <a:tc>
                  <a:txBody>
                    <a:bodyPr/>
                    <a:lstStyle/>
                    <a:p>
                      <a:r>
                        <a:rPr lang="en-MM" sz="1100" b="1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MM" sz="1100"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M4</a:t>
                      </a:r>
                      <a:r>
                        <a:rPr lang="en-US" sz="1100">
                          <a:effectLst/>
                        </a:rPr>
                        <a:t> — User Management · Project · Profile · Cycle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90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110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User Management went through 3 implementation passes (Part 1 → Part 2 → Part 3) per consultant feedback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760026"/>
                  </a:ext>
                </a:extLst>
              </a:tr>
              <a:tr h="416849">
                <a:tc>
                  <a:txBody>
                    <a:bodyPr/>
                    <a:lstStyle/>
                    <a:p>
                      <a:r>
                        <a:rPr lang="en-MM" sz="1100" b="1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MM" sz="1100"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M5</a:t>
                      </a:r>
                      <a:r>
                        <a:rPr lang="en-US" sz="1100">
                          <a:effectLst/>
                        </a:rPr>
                        <a:t> — Digital Twin · Visualisation · Treatment · Alerts (operational features)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90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105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Bringing legacy Digital Twin onto the new schema took longer than expected; fresh builds (Treatment, Alerts, Viz) were on-budget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964630"/>
                  </a:ext>
                </a:extLst>
              </a:tr>
              <a:tr h="416849">
                <a:tc>
                  <a:txBody>
                    <a:bodyPr/>
                    <a:lstStyle/>
                    <a:p>
                      <a:r>
                        <a:rPr lang="en-MM" sz="1100" b="1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MM" sz="1100"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M7</a:t>
                      </a:r>
                      <a:r>
                        <a:rPr lang="en-US" sz="1100">
                          <a:effectLst/>
                        </a:rPr>
                        <a:t> (partial) — Security Hardening (HttpOnly · CSRF · input validation · secret-mgmt strategy)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60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70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HttpOnly + CSRF edge cases; secret-management strategy required extra design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372336"/>
                  </a:ext>
                </a:extLst>
              </a:tr>
              <a:tr h="931502">
                <a:tc>
                  <a:txBody>
                    <a:bodyPr/>
                    <a:lstStyle/>
                    <a:p>
                      <a:r>
                        <a:rPr lang="en-MM" sz="1100" b="1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MM" sz="1100"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Current</a:t>
                      </a:r>
                      <a:r>
                        <a:rPr lang="en-US" sz="1100" dirty="0">
                          <a:effectLst/>
                        </a:rPr>
                        <a:t> — 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M6</a:t>
                      </a:r>
                      <a:r>
                        <a:rPr lang="en-US" sz="1100" dirty="0">
                          <a:effectLst/>
                        </a:rPr>
                        <a:t> Pond Comparison · 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M7</a:t>
                      </a:r>
                      <a:r>
                        <a:rPr lang="en-US" sz="1100" dirty="0">
                          <a:effectLst/>
                        </a:rPr>
                        <a:t> CI/CD + </a:t>
                      </a:r>
                      <a:r>
                        <a:rPr lang="en-US" sz="1100" dirty="0" err="1">
                          <a:effectLst/>
                        </a:rPr>
                        <a:t>IaC</a:t>
                      </a:r>
                      <a:r>
                        <a:rPr lang="en-US" sz="1100" dirty="0">
                          <a:effectLst/>
                        </a:rPr>
                        <a:t> + GCP demo · 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M8</a:t>
                      </a:r>
                      <a:r>
                        <a:rPr lang="en-US" sz="1100" dirty="0">
                          <a:effectLst/>
                        </a:rPr>
                        <a:t> MQTT + Pi + WebSocket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100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>
                          <a:effectLst/>
                        </a:rPr>
                        <a:t>125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Densest sprint — MQTT broker + Raspberry Pi adapter + WebSocket/Channels/Redis learning curve · Pond Comparison build · CI workflow iterations (Node version, ZAP action version, SARIF upload) · GCP cross-origin cookie debugging · Terraform IaC bootstrap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632000"/>
                  </a:ext>
                </a:extLst>
              </a:tr>
              <a:tr h="2452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</a:rPr>
                        <a:t>Total</a:t>
                      </a:r>
                      <a:endParaRPr lang="en-US" sz="1100"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M1 → M8 (M9, M10 scoped but not in this delivery)</a:t>
                      </a: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 b="1">
                          <a:solidFill>
                            <a:srgbClr val="000000"/>
                          </a:solidFill>
                          <a:effectLst/>
                        </a:rPr>
                        <a:t>650</a:t>
                      </a:r>
                      <a:endParaRPr lang="en-MM" sz="1100"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MM" sz="1100" b="1">
                          <a:solidFill>
                            <a:srgbClr val="000000"/>
                          </a:solidFill>
                          <a:effectLst/>
                        </a:rPr>
                        <a:t>775</a:t>
                      </a:r>
                      <a:endParaRPr lang="en-MM" sz="1100"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Project-wide variance: 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effectLst/>
                        </a:rPr>
                        <a:t>+19 %</a:t>
                      </a:r>
                      <a:endParaRPr lang="en-US" sz="1100" dirty="0">
                        <a:effectLst/>
                      </a:endParaRPr>
                    </a:p>
                  </a:txBody>
                  <a:tcPr marL="35290" marR="35290" marT="16287" marB="16287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5065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 Stack</a:t>
            </a:r>
          </a:p>
        </p:txBody>
      </p:sp>
      <p:sp>
        <p:nvSpPr>
          <p:cNvPr id="4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5966072-BB13-EA4E-548A-D352878C0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063999"/>
              </p:ext>
            </p:extLst>
          </p:nvPr>
        </p:nvGraphicFramePr>
        <p:xfrm>
          <a:off x="506864" y="2633472"/>
          <a:ext cx="11175224" cy="3586357"/>
        </p:xfrm>
        <a:graphic>
          <a:graphicData uri="http://schemas.openxmlformats.org/drawingml/2006/table">
            <a:tbl>
              <a:tblPr/>
              <a:tblGrid>
                <a:gridCol w="5061679">
                  <a:extLst>
                    <a:ext uri="{9D8B030D-6E8A-4147-A177-3AD203B41FA5}">
                      <a16:colId xmlns:a16="http://schemas.microsoft.com/office/drawing/2014/main" val="2268808322"/>
                    </a:ext>
                  </a:extLst>
                </a:gridCol>
                <a:gridCol w="6113545">
                  <a:extLst>
                    <a:ext uri="{9D8B030D-6E8A-4147-A177-3AD203B41FA5}">
                      <a16:colId xmlns:a16="http://schemas.microsoft.com/office/drawing/2014/main" val="355157867"/>
                    </a:ext>
                  </a:extLst>
                </a:gridCol>
              </a:tblGrid>
              <a:tr h="3194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 IoT Edge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Raspberry Pi · Mosquitto MQTT broker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907969"/>
                  </a:ext>
                </a:extLst>
              </a:tr>
              <a:tr h="3194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Real-time Pipeline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Django Channels · Redis (channel layer) · Daphne (ASGI server)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310410"/>
                  </a:ext>
                </a:extLst>
              </a:tr>
              <a:tr h="5255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 Backend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Django 5.2 · Django REST Framework · djangorestframework-simplejwt · drf-spectacular · django-unfold · Python 3.12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43735"/>
                  </a:ext>
                </a:extLst>
              </a:tr>
              <a:tr h="5255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 Frontend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React 19 · TypeScript · Vite 7 · shadcn/ui · Radix · Tailwind CSS · Zustand · react-hook-form · Zod · Recharts · @tanstack/react-table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773458"/>
                  </a:ext>
                </a:extLst>
              </a:tr>
              <a:tr h="3194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 Data &amp; Persistence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PostgreSQL 15 · psycopg2 · managed = False (database-first schema)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643422"/>
                  </a:ext>
                </a:extLst>
              </a:tr>
              <a:tr h="5255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 Security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HttpOnly JWT cookies · CSRF double-submit · Bandit (SAST) · Semgrep (SAST) · pip-audit (SCA) · npm audit (SCA) · OWASP ZAP (DAST)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422152"/>
                  </a:ext>
                </a:extLst>
              </a:tr>
              <a:tr h="5255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 CI/CD &amp; Quality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GitHub Actions · pytest · Vitest · Playwright · k6 (load + stress) · Ruff · ESLint · mypy · tsc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761472"/>
                  </a:ext>
                </a:extLst>
              </a:tr>
              <a:tr h="5255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 Infrastructure &amp; Hosting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Terraform (</a:t>
                      </a:r>
                      <a:r>
                        <a:rPr lang="en-US" sz="1400" b="0" i="0" u="none" strike="noStrike" dirty="0" err="1">
                          <a:effectLst/>
                          <a:latin typeface="Arial" panose="020B0604020202020204" pitchFamily="34" charset="0"/>
                        </a:rPr>
                        <a:t>IaC</a:t>
                      </a:r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</a:rPr>
                        <a:t>) · GCP Cloud Run · Artifact Registry · Cloud SQL (Postgres 15) · Secret Manager · Docker</a:t>
                      </a:r>
                    </a:p>
                  </a:txBody>
                  <a:tcPr marL="93037" marR="93037" marT="42940" marB="4294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5913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D6B052-A7CE-8610-57A7-74F4D7EA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82081"/>
              </p:ext>
            </p:extLst>
          </p:nvPr>
        </p:nvGraphicFramePr>
        <p:xfrm>
          <a:off x="457199" y="1659281"/>
          <a:ext cx="11260668" cy="4390103"/>
        </p:xfrm>
        <a:graphic>
          <a:graphicData uri="http://schemas.openxmlformats.org/drawingml/2006/table">
            <a:tbl>
              <a:tblPr/>
              <a:tblGrid>
                <a:gridCol w="1936045">
                  <a:extLst>
                    <a:ext uri="{9D8B030D-6E8A-4147-A177-3AD203B41FA5}">
                      <a16:colId xmlns:a16="http://schemas.microsoft.com/office/drawing/2014/main" val="2086512212"/>
                    </a:ext>
                  </a:extLst>
                </a:gridCol>
                <a:gridCol w="5571067">
                  <a:extLst>
                    <a:ext uri="{9D8B030D-6E8A-4147-A177-3AD203B41FA5}">
                      <a16:colId xmlns:a16="http://schemas.microsoft.com/office/drawing/2014/main" val="3103786983"/>
                    </a:ext>
                  </a:extLst>
                </a:gridCol>
                <a:gridCol w="3753556">
                  <a:extLst>
                    <a:ext uri="{9D8B030D-6E8A-4147-A177-3AD203B41FA5}">
                      <a16:colId xmlns:a16="http://schemas.microsoft.com/office/drawing/2014/main" val="1249607110"/>
                    </a:ext>
                  </a:extLst>
                </a:gridCol>
              </a:tblGrid>
              <a:tr h="300867">
                <a:tc>
                  <a:txBody>
                    <a:bodyPr/>
                    <a:lstStyle/>
                    <a:p>
                      <a:r>
                        <a:rPr lang="en-MM" sz="1400" b="1">
                          <a:solidFill>
                            <a:srgbClr val="000000"/>
                          </a:solidFill>
                          <a:effectLst/>
                        </a:rPr>
                        <a:t>#</a:t>
                      </a:r>
                    </a:p>
                  </a:txBody>
                  <a:tcPr marL="95865" marR="95865" marT="44245" marB="4424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Constraint</a:t>
                      </a:r>
                    </a:p>
                  </a:txBody>
                  <a:tcPr marL="95865" marR="95865" marT="44245" marB="4424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Decision</a:t>
                      </a:r>
                    </a:p>
                  </a:txBody>
                  <a:tcPr marL="95865" marR="95865" marT="44245" marB="4424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5839"/>
                  </a:ext>
                </a:extLst>
              </a:tr>
              <a:tr h="1362751">
                <a:tc>
                  <a:txBody>
                    <a:bodyPr/>
                    <a:lstStyle/>
                    <a:p>
                      <a:r>
                        <a:rPr lang="en-MM" sz="1400" b="1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MM" sz="1400">
                        <a:effectLst/>
                      </a:endParaRPr>
                    </a:p>
                  </a:txBody>
                  <a:tcPr marL="95865" marR="95865" marT="44245" marB="4424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Offline-tolerant IoT edge</a:t>
                      </a:r>
                      <a:r>
                        <a:rPr lang="en-US" sz="1400" dirty="0">
                          <a:effectLst/>
                        </a:rPr>
                        <a:t> — pond networks are unreliable; sensors must keep collecting when the broker is unreachable.</a:t>
                      </a:r>
                    </a:p>
                  </a:txBody>
                  <a:tcPr marL="95865" marR="95865" marT="44245" marB="4424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Raspberry Pi + Mosquitto MQTT in-house</a:t>
                      </a:r>
                      <a:r>
                        <a:rPr lang="en-US" sz="1400">
                          <a:effectLst/>
                        </a:rPr>
                        <a:t> — the Pi buffers readings locally and replays them when the broker comes back. The broker runs on the same VM as the Django backend.</a:t>
                      </a:r>
                    </a:p>
                  </a:txBody>
                  <a:tcPr marL="95865" marR="95865" marT="44245" marB="4424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462174"/>
                  </a:ext>
                </a:extLst>
              </a:tr>
              <a:tr h="1362751">
                <a:tc>
                  <a:txBody>
                    <a:bodyPr/>
                    <a:lstStyle/>
                    <a:p>
                      <a:r>
                        <a:rPr lang="en-MM" sz="1400" b="1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MM" sz="1400">
                        <a:effectLst/>
                      </a:endParaRPr>
                    </a:p>
                  </a:txBody>
                  <a:tcPr marL="95865" marR="95865" marT="44245" marB="4424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Avoid cloud-provider IoT services</a:t>
                      </a:r>
                      <a:r>
                        <a:rPr lang="en-US" sz="1400">
                          <a:effectLst/>
                        </a:rPr>
                        <a:t> — AWS IoT Core and Azure IoT Hub were both evaluated; the team chose against them to keep cost, control, and edge-side flexibility.</a:t>
                      </a:r>
                    </a:p>
                  </a:txBody>
                  <a:tcPr marL="95865" marR="95865" marT="44245" marB="4424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Self-hosted MQTT broker + Pi adapter</a:t>
                      </a:r>
                      <a:r>
                        <a:rPr lang="en-US" sz="1400">
                          <a:effectLst/>
                        </a:rPr>
                        <a:t> — no vendor SDK on the edge, no per-message billing, full visibility of every payload through the broker we own.</a:t>
                      </a:r>
                    </a:p>
                  </a:txBody>
                  <a:tcPr marL="95865" marR="95865" marT="44245" marB="4424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084995"/>
                  </a:ext>
                </a:extLst>
              </a:tr>
              <a:tr h="1362751">
                <a:tc>
                  <a:txBody>
                    <a:bodyPr/>
                    <a:lstStyle/>
                    <a:p>
                      <a:r>
                        <a:rPr lang="en-MM" sz="1400" b="1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MM" sz="1400">
                        <a:effectLst/>
                      </a:endParaRPr>
                    </a:p>
                  </a:txBody>
                  <a:tcPr marL="95865" marR="95865" marT="44245" marB="4424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Unified platform — AquaMonitoring v2 + BioBloc</a:t>
                      </a:r>
                      <a:r>
                        <a:rPr lang="en-US" sz="1400">
                          <a:effectLst/>
                        </a:rPr>
                        <a:t>, delivered as a </a:t>
                      </a: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subscription-based multi-tenant product</a:t>
                      </a:r>
                      <a:r>
                        <a:rPr lang="en-US" sz="1400">
                          <a:effectLst/>
                        </a:rPr>
                        <a:t>. Different tenants will need different feature sets and different farm profiles.</a:t>
                      </a:r>
                    </a:p>
                  </a:txBody>
                  <a:tcPr marL="95865" marR="95865" marT="44245" marB="4424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JSONB </a:t>
                      </a: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feature_access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 + </a:t>
                      </a: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action_control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 per user</a:t>
                      </a:r>
                      <a:r>
                        <a:rPr lang="en-US" sz="1400" dirty="0">
                          <a:effectLst/>
                        </a:rPr>
                        <a:t>, gated by the user's subscription. Profile types (shrimp · fish · crab hatchery, with </a:t>
                      </a:r>
                      <a:r>
                        <a:rPr lang="en-US" sz="1400" dirty="0" err="1">
                          <a:effectLst/>
                        </a:rPr>
                        <a:t>BioBloc</a:t>
                      </a:r>
                      <a:r>
                        <a:rPr lang="en-US" sz="1400" dirty="0">
                          <a:effectLst/>
                        </a:rPr>
                        <a:t> profiles next) plug into the same schema without table changes.</a:t>
                      </a:r>
                    </a:p>
                  </a:txBody>
                  <a:tcPr marL="95865" marR="95865" marT="44245" marB="44245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8693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FE9B0FD-46E8-61D1-2577-EA5616DBF1F1}"/>
              </a:ext>
            </a:extLst>
          </p:cNvPr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03D4C"/>
                </a:solidFill>
              </a:rPr>
              <a:t>Architectural Constraints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3440893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982020-93E7-6EE6-51AF-1F0B94C83714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Logical Architecture</a:t>
            </a:r>
          </a:p>
        </p:txBody>
      </p:sp>
      <p:pic>
        <p:nvPicPr>
          <p:cNvPr id="4" name="Picture 3" descr="A diagram of a person&#10;&#10;Description automatically generated">
            <a:extLst>
              <a:ext uri="{FF2B5EF4-FFF2-40B4-BE49-F238E27FC236}">
                <a16:creationId xmlns:a16="http://schemas.microsoft.com/office/drawing/2014/main" id="{321DDA8F-B130-C1F9-4D4A-271AE32BA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67" y="1816958"/>
            <a:ext cx="10905066" cy="438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81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03D4C"/>
                </a:solidFill>
              </a:rPr>
              <a:t>Physical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767B"/>
                </a:solidFill>
              </a:rPr>
              <a:t>AquaShield v2 · Slide 8 / 16</a:t>
            </a:r>
          </a:p>
        </p:txBody>
      </p:sp>
      <p:pic>
        <p:nvPicPr>
          <p:cNvPr id="8" name="Picture 7" descr="A screenshot of a computer flowchart&#10;&#10;Description automatically generated">
            <a:extLst>
              <a:ext uri="{FF2B5EF4-FFF2-40B4-BE49-F238E27FC236}">
                <a16:creationId xmlns:a16="http://schemas.microsoft.com/office/drawing/2014/main" id="{9FB42176-6682-3FF3-E072-86BBE38D9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458" y="914400"/>
            <a:ext cx="364570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03D4C"/>
                </a:solidFill>
              </a:rPr>
              <a:t>Deployment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767B"/>
                </a:solidFill>
              </a:rPr>
              <a:t>AquaShield v2 · Slide 9 / 16</a:t>
            </a:r>
          </a:p>
        </p:txBody>
      </p:sp>
      <p:pic>
        <p:nvPicPr>
          <p:cNvPr id="9" name="Picture 8" descr="A screenshot of a diagram&#10;&#10;Description automatically generated">
            <a:extLst>
              <a:ext uri="{FF2B5EF4-FFF2-40B4-BE49-F238E27FC236}">
                <a16:creationId xmlns:a16="http://schemas.microsoft.com/office/drawing/2014/main" id="{7DAD0F52-0C47-2E3A-58DD-1074C295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89" y="1235499"/>
            <a:ext cx="10430731" cy="510151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3D4C"/>
                </a:solidFill>
              </a:rPr>
              <a:t>Domain Driven Design</a:t>
            </a:r>
            <a:endParaRPr sz="2600" b="1" dirty="0">
              <a:solidFill>
                <a:srgbClr val="003D4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767B"/>
                </a:solidFill>
              </a:rPr>
              <a:t>AquaShield v2 · Slide 10 / 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3D4C"/>
                </a:solidFill>
              </a:rPr>
              <a:t>Software </a:t>
            </a:r>
            <a:r>
              <a:rPr sz="2600" b="1" dirty="0">
                <a:solidFill>
                  <a:srgbClr val="003D4C"/>
                </a:solidFill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767B"/>
                </a:solidFill>
              </a:rPr>
              <a:t>AquaShield v2 · Slide 11 / 16</a:t>
            </a:r>
          </a:p>
        </p:txBody>
      </p:sp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FB71BF7-BC66-B4BB-C453-DCC099A7A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656" y="980785"/>
            <a:ext cx="7772400" cy="489642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73A05E0-F61D-3677-E6A2-5DBB001BE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94" y="914399"/>
            <a:ext cx="580161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0C7F9B-7D9B-DFE9-F6FE-4CBC2F3449B9}"/>
              </a:ext>
            </a:extLst>
          </p:cNvPr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3D4C"/>
                </a:solidFill>
              </a:rPr>
              <a:t>Software </a:t>
            </a:r>
            <a:r>
              <a:rPr sz="2600" b="1" dirty="0">
                <a:solidFill>
                  <a:srgbClr val="003D4C"/>
                </a:solidFill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801338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03D4C"/>
                </a:solidFill>
              </a:rPr>
              <a:t>Relational ER Design + NoSQL Schema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767B"/>
                </a:solidFill>
              </a:rPr>
              <a:t>AquaShield v2 · Slide 12 / 16</a:t>
            </a:r>
          </a:p>
        </p:txBody>
      </p:sp>
      <p:pic>
        <p:nvPicPr>
          <p:cNvPr id="10" name="Picture 9" descr="A diagram of a data flow&#10;&#10;Description automatically generated with medium confidence">
            <a:extLst>
              <a:ext uri="{FF2B5EF4-FFF2-40B4-BE49-F238E27FC236}">
                <a16:creationId xmlns:a16="http://schemas.microsoft.com/office/drawing/2014/main" id="{69B21401-02AA-3050-945D-76AC3B0A5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927" y="797243"/>
            <a:ext cx="64357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7C9AD-80BB-F027-21E9-8EA140C061E2}"/>
              </a:ext>
            </a:extLst>
          </p:cNvPr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3D4C"/>
                </a:solidFill>
              </a:rPr>
              <a:t>Class Diagram</a:t>
            </a:r>
            <a:endParaRPr sz="2600" b="1" dirty="0">
              <a:solidFill>
                <a:srgbClr val="003D4C"/>
              </a:solidFill>
            </a:endParaRPr>
          </a:p>
        </p:txBody>
      </p:sp>
      <p:pic>
        <p:nvPicPr>
          <p:cNvPr id="4" name="Picture 3" descr="A screenshot of a computer flowchart&#10;&#10;Description automatically generated">
            <a:extLst>
              <a:ext uri="{FF2B5EF4-FFF2-40B4-BE49-F238E27FC236}">
                <a16:creationId xmlns:a16="http://schemas.microsoft.com/office/drawing/2014/main" id="{4CE5611F-DE08-FC51-4EC2-F4DAB5EC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606" y="1174045"/>
            <a:ext cx="7772400" cy="519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49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03D4C"/>
                </a:solidFill>
              </a:rPr>
              <a:t>CI/CD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767B"/>
                </a:solidFill>
              </a:rPr>
              <a:t>AquaShield v2 · Slide 13 / 16</a:t>
            </a:r>
          </a:p>
        </p:txBody>
      </p:sp>
      <p:pic>
        <p:nvPicPr>
          <p:cNvPr id="12" name="Picture 11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6D0FEF84-8942-14B0-CA58-DCF1EE473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541" y="812800"/>
            <a:ext cx="19534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B289EFB-4DDD-5813-AE37-4DEA6207D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06" y="330200"/>
            <a:ext cx="10690239" cy="619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940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D9469C2-2643-0633-F6C0-4DB93A0D4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71" y="352283"/>
            <a:ext cx="10555840" cy="615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176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03D4C"/>
                </a:solidFill>
              </a:rPr>
              <a:t>Testing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767B"/>
                </a:solidFill>
              </a:rPr>
              <a:t>AquaShield v2 · Slide 14 / 16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693D8AC3-402E-5061-75BF-4BEF13E8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978" y="1366325"/>
            <a:ext cx="7772400" cy="235643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328AD99-4DD5-24FD-4926-CB4D7902E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312" y="1801318"/>
            <a:ext cx="7772400" cy="214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86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03D4C"/>
                </a:solidFill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767B"/>
                </a:solidFill>
              </a:rPr>
              <a:t>AquaShield v2 · Slide 15 / 16</a:t>
            </a:r>
          </a:p>
        </p:txBody>
      </p:sp>
      <p:pic>
        <p:nvPicPr>
          <p:cNvPr id="7" name="Picture 6" descr="A yellow paper with text&#10;&#10;Description automatically generated with medium confidence">
            <a:extLst>
              <a:ext uri="{FF2B5EF4-FFF2-40B4-BE49-F238E27FC236}">
                <a16:creationId xmlns:a16="http://schemas.microsoft.com/office/drawing/2014/main" id="{1B13BD78-C118-963B-5403-D129FB6C5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893" y="891822"/>
            <a:ext cx="359479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03D4C"/>
                </a:solidFill>
              </a:rPr>
              <a:t>Infrastructure-as-Code (</a:t>
            </a:r>
            <a:r>
              <a:rPr sz="2600" b="1" dirty="0" err="1">
                <a:solidFill>
                  <a:srgbClr val="003D4C"/>
                </a:solidFill>
              </a:rPr>
              <a:t>IaC</a:t>
            </a:r>
            <a:r>
              <a:rPr sz="2600" b="1" dirty="0">
                <a:solidFill>
                  <a:srgbClr val="003D4C"/>
                </a:solidFill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767B"/>
                </a:solidFill>
              </a:rPr>
              <a:t>AquaShield v2 · Slide 16 / 16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81795B5-E848-ABDD-3A1A-0E17D4E69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32" y="1627910"/>
            <a:ext cx="6908800" cy="1404003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9645BED8-5B24-0C59-96FD-3680DFDC0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560" y="654050"/>
            <a:ext cx="3759200" cy="5549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3721</Words>
  <Application>Microsoft Macintosh PowerPoint</Application>
  <PresentationFormat>Widescreen</PresentationFormat>
  <Paragraphs>335</Paragraphs>
  <Slides>35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Thet Naung Soe</cp:lastModifiedBy>
  <cp:revision>35</cp:revision>
  <dcterms:created xsi:type="dcterms:W3CDTF">2013-01-27T09:14:16Z</dcterms:created>
  <dcterms:modified xsi:type="dcterms:W3CDTF">2026-05-20T01:21:10Z</dcterms:modified>
  <cp:category/>
</cp:coreProperties>
</file>